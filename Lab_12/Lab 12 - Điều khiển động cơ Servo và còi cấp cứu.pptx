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21"/>
  </p:notesMasterIdLst>
  <p:sldIdLst>
    <p:sldId id="302" r:id="rId2"/>
    <p:sldId id="295" r:id="rId3"/>
    <p:sldId id="331" r:id="rId4"/>
    <p:sldId id="343" r:id="rId5"/>
    <p:sldId id="376" r:id="rId6"/>
    <p:sldId id="375" r:id="rId7"/>
    <p:sldId id="379" r:id="rId8"/>
    <p:sldId id="378" r:id="rId9"/>
    <p:sldId id="380" r:id="rId10"/>
    <p:sldId id="381" r:id="rId11"/>
    <p:sldId id="382" r:id="rId12"/>
    <p:sldId id="383" r:id="rId13"/>
    <p:sldId id="384" r:id="rId14"/>
    <p:sldId id="385" r:id="rId15"/>
    <p:sldId id="386" r:id="rId16"/>
    <p:sldId id="387" r:id="rId17"/>
    <p:sldId id="388" r:id="rId18"/>
    <p:sldId id="389" r:id="rId19"/>
    <p:sldId id="39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CE51F5B-C7E4-4C01-A231-96CEA27F5FC3}">
          <p14:sldIdLst>
            <p14:sldId id="302"/>
          </p14:sldIdLst>
        </p14:section>
        <p14:section name="Content" id="{1B62170A-2E04-4DEB-AFCB-485F16B560C1}">
          <p14:sldIdLst>
            <p14:sldId id="295"/>
            <p14:sldId id="331"/>
            <p14:sldId id="343"/>
            <p14:sldId id="376"/>
            <p14:sldId id="375"/>
            <p14:sldId id="379"/>
            <p14:sldId id="378"/>
            <p14:sldId id="380"/>
            <p14:sldId id="381"/>
            <p14:sldId id="382"/>
            <p14:sldId id="383"/>
            <p14:sldId id="384"/>
            <p14:sldId id="385"/>
            <p14:sldId id="386"/>
            <p14:sldId id="387"/>
            <p14:sldId id="388"/>
            <p14:sldId id="389"/>
            <p14:sldId id="39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BAB"/>
    <a:srgbClr val="FC92F4"/>
    <a:srgbClr val="183D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3" autoAdjust="0"/>
    <p:restoredTop sz="95332" autoAdjust="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4" d="100"/>
          <a:sy n="54" d="100"/>
        </p:scale>
        <p:origin x="2796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F4D1A3-4167-4DE2-857D-FED6DC824423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0378F9-F517-40BC-8F9F-7F7144C3CF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05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082967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082967"/>
            <a:ext cx="4114800" cy="365125"/>
          </a:xfrm>
        </p:spPr>
        <p:txBody>
          <a:bodyPr/>
          <a:lstStyle>
            <a:lvl1pPr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80376" y="6587366"/>
            <a:ext cx="865094" cy="248584"/>
          </a:xfrm>
        </p:spPr>
        <p:txBody>
          <a:bodyPr/>
          <a:lstStyle>
            <a:lvl1pPr>
              <a:defRPr sz="105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6E9BC5F3-20C3-46D3-932D-BAE27B3FCC6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9"/>
          <p:cNvSpPr>
            <a:spLocks noChangeArrowheads="1"/>
          </p:cNvSpPr>
          <p:nvPr/>
        </p:nvSpPr>
        <p:spPr bwMode="gray">
          <a:xfrm>
            <a:off x="0" y="1416464"/>
            <a:ext cx="12192000" cy="356987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>
              <a:solidFill>
                <a:srgbClr val="FFC000"/>
              </a:solidFill>
            </a:endParaRPr>
          </a:p>
        </p:txBody>
      </p:sp>
      <p:sp>
        <p:nvSpPr>
          <p:cNvPr id="9" name="Freeform 20"/>
          <p:cNvSpPr>
            <a:spLocks/>
          </p:cNvSpPr>
          <p:nvPr/>
        </p:nvSpPr>
        <p:spPr bwMode="gray">
          <a:xfrm>
            <a:off x="1" y="985232"/>
            <a:ext cx="10883152" cy="3386549"/>
          </a:xfrm>
          <a:custGeom>
            <a:avLst/>
            <a:gdLst>
              <a:gd name="T0" fmla="*/ 0 w 5049"/>
              <a:gd name="T1" fmla="*/ 0 h 1471"/>
              <a:gd name="T2" fmla="*/ 5049 w 5049"/>
              <a:gd name="T3" fmla="*/ 2 h 1471"/>
              <a:gd name="T4" fmla="*/ 5048 w 5049"/>
              <a:gd name="T5" fmla="*/ 1458 h 1471"/>
              <a:gd name="T6" fmla="*/ 0 w 5049"/>
              <a:gd name="T7" fmla="*/ 1471 h 1471"/>
              <a:gd name="T8" fmla="*/ 0 w 5049"/>
              <a:gd name="T9" fmla="*/ 0 h 1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049" h="1471">
                <a:moveTo>
                  <a:pt x="0" y="0"/>
                </a:moveTo>
                <a:lnTo>
                  <a:pt x="5049" y="2"/>
                </a:lnTo>
                <a:lnTo>
                  <a:pt x="5048" y="1458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rgbClr val="00B0F0">
              <a:alpha val="73000"/>
            </a:srgbClr>
          </a:solidFill>
          <a:ln>
            <a:noFill/>
          </a:ln>
          <a:effectLst/>
        </p:spPr>
        <p:txBody>
          <a:bodyPr/>
          <a:lstStyle/>
          <a:p>
            <a:endParaRPr lang="en-US">
              <a:solidFill>
                <a:srgbClr val="FFFF00"/>
              </a:solidFill>
            </a:endParaRP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4622800" y="3017492"/>
            <a:ext cx="7213600" cy="1012825"/>
          </a:xfrm>
          <a:prstGeom prst="rect">
            <a:avLst/>
          </a:prstGeom>
        </p:spPr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>
              <a:defRPr sz="3600" b="1" cap="none" spc="50">
                <a:ln w="11430"/>
                <a:solidFill>
                  <a:schemeClr val="bg1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1026" name="Picture 2" descr="iot là gì? Đặc điểm của IOT như thế nào?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064" y="2008475"/>
            <a:ext cx="3515472" cy="201803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171" y="35860"/>
            <a:ext cx="1284058" cy="99608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163298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744" y="1112363"/>
            <a:ext cx="10618836" cy="4958499"/>
          </a:xfrm>
        </p:spPr>
        <p:txBody>
          <a:bodyPr/>
          <a:lstStyle>
            <a:lvl1pPr>
              <a:lnSpc>
                <a:spcPct val="120000"/>
              </a:lnSpc>
              <a:spcBef>
                <a:spcPts val="600"/>
              </a:spcBef>
              <a:defRPr sz="3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lnSpc>
                <a:spcPct val="120000"/>
              </a:lnSpc>
              <a:spcBef>
                <a:spcPts val="600"/>
              </a:spcBef>
              <a:defRPr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defRPr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lnSpc>
                <a:spcPct val="120000"/>
              </a:lnSpc>
              <a:spcBef>
                <a:spcPts val="600"/>
              </a:spcBef>
              <a:defRPr sz="2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lnSpc>
                <a:spcPct val="120000"/>
              </a:lnSpc>
              <a:spcBef>
                <a:spcPts val="600"/>
              </a:spcBef>
              <a:defRPr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082967"/>
            <a:ext cx="4114800" cy="365125"/>
          </a:xfrm>
        </p:spPr>
        <p:txBody>
          <a:bodyPr/>
          <a:lstStyle>
            <a:lvl1pPr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24364" y="6477414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6E9BC5F3-20C3-46D3-932D-BAE27B3FCC6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2"/>
          <p:cNvSpPr>
            <a:spLocks noGrp="1"/>
          </p:cNvSpPr>
          <p:nvPr>
            <p:ph type="title" idx="4294967295"/>
          </p:nvPr>
        </p:nvSpPr>
        <p:spPr>
          <a:xfrm>
            <a:off x="1283930" y="28282"/>
            <a:ext cx="10908070" cy="10086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267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744" y="1112363"/>
            <a:ext cx="10618836" cy="4958499"/>
          </a:xfrm>
        </p:spPr>
        <p:txBody>
          <a:bodyPr/>
          <a:lstStyle>
            <a:lvl1pPr>
              <a:lnSpc>
                <a:spcPct val="120000"/>
              </a:lnSpc>
              <a:spcBef>
                <a:spcPts val="600"/>
              </a:spcBef>
              <a:defRPr sz="3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lnSpc>
                <a:spcPct val="120000"/>
              </a:lnSpc>
              <a:spcBef>
                <a:spcPts val="600"/>
              </a:spcBef>
              <a:defRPr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defRPr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lnSpc>
                <a:spcPct val="120000"/>
              </a:lnSpc>
              <a:spcBef>
                <a:spcPts val="600"/>
              </a:spcBef>
              <a:defRPr sz="2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lnSpc>
                <a:spcPct val="120000"/>
              </a:lnSpc>
              <a:spcBef>
                <a:spcPts val="600"/>
              </a:spcBef>
              <a:defRPr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082967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082967"/>
            <a:ext cx="4114800" cy="365125"/>
          </a:xfrm>
        </p:spPr>
        <p:txBody>
          <a:bodyPr/>
          <a:lstStyle>
            <a:lvl1pPr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082967"/>
            <a:ext cx="2743200" cy="365125"/>
          </a:xfrm>
        </p:spPr>
        <p:txBody>
          <a:bodyPr/>
          <a:lstStyle>
            <a:lvl1pPr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6E9BC5F3-20C3-46D3-932D-BAE27B3FCC6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2"/>
          <p:cNvSpPr>
            <a:spLocks noGrp="1"/>
          </p:cNvSpPr>
          <p:nvPr>
            <p:ph type="title" idx="4294967295"/>
          </p:nvPr>
        </p:nvSpPr>
        <p:spPr>
          <a:xfrm>
            <a:off x="1283930" y="28282"/>
            <a:ext cx="10908070" cy="10086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153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744" y="1112363"/>
            <a:ext cx="10618836" cy="4958499"/>
          </a:xfrm>
        </p:spPr>
        <p:txBody>
          <a:bodyPr/>
          <a:lstStyle>
            <a:lvl1pPr>
              <a:lnSpc>
                <a:spcPct val="120000"/>
              </a:lnSpc>
              <a:spcBef>
                <a:spcPts val="600"/>
              </a:spcBef>
              <a:defRPr sz="3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lnSpc>
                <a:spcPct val="120000"/>
              </a:lnSpc>
              <a:spcBef>
                <a:spcPts val="600"/>
              </a:spcBef>
              <a:defRPr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defRPr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lnSpc>
                <a:spcPct val="120000"/>
              </a:lnSpc>
              <a:spcBef>
                <a:spcPts val="600"/>
              </a:spcBef>
              <a:defRPr sz="2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lnSpc>
                <a:spcPct val="120000"/>
              </a:lnSpc>
              <a:spcBef>
                <a:spcPts val="600"/>
              </a:spcBef>
              <a:defRPr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082967"/>
            <a:ext cx="2743200" cy="365125"/>
          </a:xfrm>
        </p:spPr>
        <p:txBody>
          <a:bodyPr/>
          <a:lstStyle>
            <a:lvl1pPr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082967"/>
            <a:ext cx="4114800" cy="365125"/>
          </a:xfrm>
        </p:spPr>
        <p:txBody>
          <a:bodyPr/>
          <a:lstStyle>
            <a:lvl1pPr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082967"/>
            <a:ext cx="2743200" cy="365125"/>
          </a:xfrm>
        </p:spPr>
        <p:txBody>
          <a:bodyPr/>
          <a:lstStyle>
            <a:lvl1pPr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6E9BC5F3-20C3-46D3-932D-BAE27B3FCC6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2"/>
          <p:cNvSpPr>
            <a:spLocks noGrp="1"/>
          </p:cNvSpPr>
          <p:nvPr>
            <p:ph type="title" idx="4294967295"/>
          </p:nvPr>
        </p:nvSpPr>
        <p:spPr>
          <a:xfrm>
            <a:off x="1283930" y="28282"/>
            <a:ext cx="10908070" cy="100866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539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Freeform 15"/>
          <p:cNvSpPr>
            <a:spLocks/>
          </p:cNvSpPr>
          <p:nvPr/>
        </p:nvSpPr>
        <p:spPr bwMode="gray">
          <a:xfrm>
            <a:off x="-12699" y="0"/>
            <a:ext cx="10883899" cy="977900"/>
          </a:xfrm>
          <a:custGeom>
            <a:avLst/>
            <a:gdLst>
              <a:gd name="T0" fmla="*/ 0 w 5049"/>
              <a:gd name="T1" fmla="*/ 0 h 1471"/>
              <a:gd name="T2" fmla="*/ 5049 w 5049"/>
              <a:gd name="T3" fmla="*/ 2 h 1471"/>
              <a:gd name="T4" fmla="*/ 5048 w 5049"/>
              <a:gd name="T5" fmla="*/ 1458 h 1471"/>
              <a:gd name="T6" fmla="*/ 0 w 5049"/>
              <a:gd name="T7" fmla="*/ 1471 h 1471"/>
              <a:gd name="T8" fmla="*/ 0 w 5049"/>
              <a:gd name="T9" fmla="*/ 0 h 1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049" h="1471">
                <a:moveTo>
                  <a:pt x="0" y="0"/>
                </a:moveTo>
                <a:lnTo>
                  <a:pt x="5049" y="2"/>
                </a:lnTo>
                <a:lnTo>
                  <a:pt x="5048" y="1458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1040" name="Group 16"/>
          <p:cNvGrpSpPr>
            <a:grpSpLocks/>
          </p:cNvGrpSpPr>
          <p:nvPr/>
        </p:nvGrpSpPr>
        <p:grpSpPr bwMode="auto">
          <a:xfrm>
            <a:off x="10871200" y="0"/>
            <a:ext cx="1320800" cy="6858000"/>
            <a:chOff x="5040" y="0"/>
            <a:chExt cx="720" cy="4320"/>
          </a:xfrm>
        </p:grpSpPr>
        <p:sp>
          <p:nvSpPr>
            <p:cNvPr id="1041" name="Rectangle 17"/>
            <p:cNvSpPr>
              <a:spLocks noChangeArrowheads="1"/>
            </p:cNvSpPr>
            <p:nvPr/>
          </p:nvSpPr>
          <p:spPr bwMode="gray">
            <a:xfrm>
              <a:off x="5042" y="0"/>
              <a:ext cx="718" cy="4320"/>
            </a:xfrm>
            <a:prstGeom prst="rect">
              <a:avLst/>
            </a:prstGeom>
            <a:solidFill>
              <a:schemeClr val="folHlink">
                <a:alpha val="39999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2" name="Rectangle 18"/>
            <p:cNvSpPr>
              <a:spLocks noChangeArrowheads="1"/>
            </p:cNvSpPr>
            <p:nvPr/>
          </p:nvSpPr>
          <p:spPr bwMode="gray">
            <a:xfrm>
              <a:off x="5040" y="219"/>
              <a:ext cx="720" cy="393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43" name="AutoShape 19"/>
          <p:cNvSpPr>
            <a:spLocks noChangeArrowheads="1"/>
          </p:cNvSpPr>
          <p:nvPr/>
        </p:nvSpPr>
        <p:spPr bwMode="gray">
          <a:xfrm>
            <a:off x="10261600" y="5943600"/>
            <a:ext cx="8128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rgbClr val="5086C2">
              <a:alpha val="35001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4" name="AutoShape 20"/>
          <p:cNvSpPr>
            <a:spLocks noChangeArrowheads="1"/>
          </p:cNvSpPr>
          <p:nvPr/>
        </p:nvSpPr>
        <p:spPr bwMode="gray">
          <a:xfrm>
            <a:off x="10972800" y="5638800"/>
            <a:ext cx="8128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rgbClr val="5086C2">
              <a:alpha val="35001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5" name="AutoShape 21"/>
          <p:cNvSpPr>
            <a:spLocks noChangeArrowheads="1"/>
          </p:cNvSpPr>
          <p:nvPr/>
        </p:nvSpPr>
        <p:spPr bwMode="gray">
          <a:xfrm>
            <a:off x="10960100" y="6229350"/>
            <a:ext cx="8128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rgbClr val="5086C2">
              <a:alpha val="35001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956800" y="6477000"/>
            <a:ext cx="1701800" cy="2857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1">
                    <a:lumMod val="50000"/>
                  </a:schemeClr>
                </a:solidFill>
                <a:latin typeface="+mn-lt"/>
              </a:defRPr>
            </a:lvl1pPr>
          </a:lstStyle>
          <a:p>
            <a:fld id="{6E9BC5F3-20C3-46D3-932D-BAE27B3FCC69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046" name="Group 22"/>
          <p:cNvGrpSpPr>
            <a:grpSpLocks/>
          </p:cNvGrpSpPr>
          <p:nvPr/>
        </p:nvGrpSpPr>
        <p:grpSpPr bwMode="auto">
          <a:xfrm>
            <a:off x="201706" y="69850"/>
            <a:ext cx="1035424" cy="838200"/>
            <a:chOff x="18" y="144"/>
            <a:chExt cx="510" cy="480"/>
          </a:xfrm>
        </p:grpSpPr>
        <p:sp>
          <p:nvSpPr>
            <p:cNvPr id="1047" name="AutoShape 23"/>
            <p:cNvSpPr>
              <a:spLocks noChangeArrowheads="1"/>
            </p:cNvSpPr>
            <p:nvPr/>
          </p:nvSpPr>
          <p:spPr bwMode="gray">
            <a:xfrm>
              <a:off x="18" y="258"/>
              <a:ext cx="288" cy="240"/>
            </a:xfrm>
            <a:prstGeom prst="hexagon">
              <a:avLst>
                <a:gd name="adj" fmla="val 30000"/>
                <a:gd name="vf" fmla="val 115470"/>
              </a:avLst>
            </a:prstGeom>
            <a:solidFill>
              <a:schemeClr val="hlink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56796" dir="1593903" algn="ctr" rotWithShape="0">
                <a:srgbClr val="6666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8" name="AutoShape 24"/>
            <p:cNvSpPr>
              <a:spLocks noChangeArrowheads="1"/>
            </p:cNvSpPr>
            <p:nvPr/>
          </p:nvSpPr>
          <p:spPr bwMode="gray">
            <a:xfrm>
              <a:off x="240" y="144"/>
              <a:ext cx="288" cy="240"/>
            </a:xfrm>
            <a:prstGeom prst="hexagon">
              <a:avLst>
                <a:gd name="adj" fmla="val 30000"/>
                <a:gd name="vf" fmla="val 115470"/>
              </a:avLst>
            </a:prstGeom>
            <a:solidFill>
              <a:srgbClr val="C00000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56796" dir="1593903" algn="ctr" rotWithShape="0">
                <a:srgbClr val="6666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9" name="AutoShape 25"/>
            <p:cNvSpPr>
              <a:spLocks noChangeArrowheads="1"/>
            </p:cNvSpPr>
            <p:nvPr/>
          </p:nvSpPr>
          <p:spPr bwMode="gray">
            <a:xfrm>
              <a:off x="240" y="384"/>
              <a:ext cx="288" cy="240"/>
            </a:xfrm>
            <a:prstGeom prst="hexagon">
              <a:avLst>
                <a:gd name="adj" fmla="val 30000"/>
                <a:gd name="vf" fmla="val 115470"/>
              </a:avLst>
            </a:prstGeom>
            <a:solidFill>
              <a:schemeClr val="accent1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56796" dir="1593903" algn="ctr" rotWithShape="0">
                <a:srgbClr val="6666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55562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8" r:id="rId3"/>
    <p:sldLayoutId id="2147483667" r:id="rId4"/>
  </p:sldLayoutIdLst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800">
          <a:solidFill>
            <a:schemeClr val="tx1"/>
          </a:solidFill>
          <a:latin typeface="Arial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11080376" y="6464808"/>
            <a:ext cx="865094" cy="371142"/>
          </a:xfrm>
        </p:spPr>
        <p:txBody>
          <a:bodyPr/>
          <a:lstStyle/>
          <a:p>
            <a:fld id="{6E9BC5F3-20C3-46D3-932D-BAE27B3FCC69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4809744" y="1875603"/>
            <a:ext cx="5980176" cy="1008668"/>
          </a:xfrm>
          <a:prstGeom prst="rect">
            <a:avLst/>
          </a:prstGeom>
        </p:spPr>
        <p:txBody>
          <a:bodyPr/>
          <a:lstStyle/>
          <a:p>
            <a:r>
              <a:rPr lang="en-US" sz="4400" dirty="0"/>
              <a:t>CÔNG NGHỆ </a:t>
            </a:r>
            <a:r>
              <a:rPr lang="en-US" sz="4400" dirty="0" err="1"/>
              <a:t>IoT</a:t>
            </a:r>
            <a:endParaRPr lang="en-US" sz="4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8287" y="2839675"/>
            <a:ext cx="4737003" cy="963251"/>
          </a:xfrm>
          <a:prstGeom prst="rect">
            <a:avLst/>
          </a:prstGeom>
        </p:spPr>
      </p:pic>
      <p:sp>
        <p:nvSpPr>
          <p:cNvPr id="6" name="Subtitle 2"/>
          <p:cNvSpPr txBox="1">
            <a:spLocks/>
          </p:cNvSpPr>
          <p:nvPr/>
        </p:nvSpPr>
        <p:spPr>
          <a:xfrm>
            <a:off x="3606948" y="230703"/>
            <a:ext cx="6898342" cy="8278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defRPr sz="18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000" b="1" dirty="0">
                <a:solidFill>
                  <a:srgbClr val="FFFF00"/>
                </a:solidFill>
              </a:rPr>
              <a:t>TRƯỜNG ĐẠI HỌC NGUYỄN TẤT THÀNH</a:t>
            </a:r>
          </a:p>
          <a:p>
            <a:pPr algn="r"/>
            <a:r>
              <a:rPr lang="en-US" sz="2000" b="1" dirty="0">
                <a:solidFill>
                  <a:srgbClr val="FFFF00"/>
                </a:solidFill>
              </a:rPr>
              <a:t>KHOA CÔNG NGHỆ THÔNG TIN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5740" y="5146988"/>
            <a:ext cx="4050404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2000" dirty="0" err="1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Biên</a:t>
            </a:r>
            <a:r>
              <a:rPr lang="en-US" sz="20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soạn</a:t>
            </a:r>
            <a:r>
              <a:rPr lang="en-US" sz="20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en-US" sz="2000" dirty="0" err="1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ThS</a:t>
            </a:r>
            <a:r>
              <a:rPr lang="en-US" sz="20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US" sz="2000" dirty="0" err="1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Dương</a:t>
            </a:r>
            <a:r>
              <a:rPr lang="en-US" sz="20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Minh </a:t>
            </a:r>
            <a:r>
              <a:rPr lang="en-US" sz="2000" dirty="0" err="1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Tuấn</a:t>
            </a:r>
            <a:endParaRPr lang="en-US" sz="2000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r"/>
            <a:r>
              <a:rPr lang="en-US" sz="20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dmtuan@ntt.edu.vn</a:t>
            </a:r>
          </a:p>
          <a:p>
            <a:pPr algn="r"/>
            <a:r>
              <a:rPr lang="en-US" sz="200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0973887793</a:t>
            </a:r>
            <a:endParaRPr lang="en-US" sz="2000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3416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86753" y="1062111"/>
            <a:ext cx="8310283" cy="12946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>
                <a:solidFill>
                  <a:srgbClr val="002060"/>
                </a:solidFill>
              </a:rPr>
              <a:t>1. </a:t>
            </a:r>
            <a:r>
              <a:rPr lang="en-US" i="1" dirty="0" err="1">
                <a:solidFill>
                  <a:srgbClr val="002060"/>
                </a:solidFill>
              </a:rPr>
              <a:t>Chuẩn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bị</a:t>
            </a:r>
            <a:endParaRPr lang="en-US" b="1" i="1" dirty="0">
              <a:solidFill>
                <a:srgbClr val="00206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1461246" y="142393"/>
            <a:ext cx="8969189" cy="684553"/>
          </a:xfrm>
        </p:spPr>
        <p:txBody>
          <a:bodyPr/>
          <a:lstStyle/>
          <a:p>
            <a:pPr algn="ctr"/>
            <a:r>
              <a:rPr lang="en-US" sz="2400" b="1" dirty="0"/>
              <a:t>Lab 12: </a:t>
            </a:r>
            <a:r>
              <a:rPr lang="en-US" sz="2400" b="1" dirty="0" err="1"/>
              <a:t>Điều</a:t>
            </a:r>
            <a:r>
              <a:rPr lang="en-US" sz="2400" b="1" dirty="0"/>
              <a:t> </a:t>
            </a:r>
            <a:r>
              <a:rPr lang="en-US" sz="2400" b="1" dirty="0" err="1"/>
              <a:t>khiển</a:t>
            </a:r>
            <a:r>
              <a:rPr lang="en-US" sz="2400" b="1" dirty="0"/>
              <a:t> </a:t>
            </a:r>
            <a:r>
              <a:rPr lang="en-US" sz="2400" b="1" dirty="0" err="1"/>
              <a:t>Động</a:t>
            </a:r>
            <a:r>
              <a:rPr lang="en-US" sz="2400" b="1" dirty="0"/>
              <a:t> </a:t>
            </a:r>
            <a:r>
              <a:rPr lang="en-US" sz="2400" b="1" dirty="0" err="1"/>
              <a:t>cơ</a:t>
            </a:r>
            <a:r>
              <a:rPr lang="en-US" sz="2400" b="1" dirty="0"/>
              <a:t> Servo </a:t>
            </a:r>
            <a:r>
              <a:rPr lang="en-US" sz="2400" b="1" dirty="0" err="1"/>
              <a:t>và</a:t>
            </a:r>
            <a:r>
              <a:rPr lang="en-US" sz="2400" b="1" dirty="0"/>
              <a:t> </a:t>
            </a:r>
            <a:r>
              <a:rPr lang="en-US" sz="2400" b="1" dirty="0" err="1"/>
              <a:t>còi</a:t>
            </a:r>
            <a:r>
              <a:rPr lang="en-US" sz="2400" b="1" dirty="0"/>
              <a:t> </a:t>
            </a:r>
            <a:r>
              <a:rPr lang="en-US" sz="2400" b="1" dirty="0" err="1"/>
              <a:t>cấp</a:t>
            </a:r>
            <a:r>
              <a:rPr lang="en-US" sz="2400" b="1" dirty="0"/>
              <a:t> </a:t>
            </a:r>
            <a:r>
              <a:rPr lang="en-US" sz="2400" b="1" dirty="0" err="1"/>
              <a:t>cứu</a:t>
            </a:r>
            <a:br>
              <a:rPr lang="en-US" sz="2400" b="1" dirty="0"/>
            </a:br>
            <a:r>
              <a:rPr lang="en-US" sz="2400" b="1" dirty="0" err="1"/>
              <a:t>Ứng</a:t>
            </a:r>
            <a:r>
              <a:rPr lang="en-US" sz="2400" b="1" dirty="0"/>
              <a:t> </a:t>
            </a:r>
            <a:r>
              <a:rPr lang="en-US" sz="2400" b="1" dirty="0" err="1"/>
              <a:t>dụng</a:t>
            </a:r>
            <a:r>
              <a:rPr lang="en-US" sz="2400" b="1" dirty="0"/>
              <a:t> </a:t>
            </a:r>
            <a:r>
              <a:rPr lang="en-US" sz="2400" b="1" dirty="0" err="1"/>
              <a:t>triển</a:t>
            </a:r>
            <a:r>
              <a:rPr lang="en-US" sz="2400" b="1" dirty="0"/>
              <a:t> </a:t>
            </a:r>
            <a:r>
              <a:rPr lang="en-US" sz="2400" b="1" dirty="0" err="1"/>
              <a:t>khai</a:t>
            </a:r>
            <a:r>
              <a:rPr lang="en-US" sz="2400" b="1" dirty="0"/>
              <a:t> </a:t>
            </a:r>
            <a:r>
              <a:rPr lang="en-US" sz="2400" b="1" dirty="0" err="1"/>
              <a:t>bãi</a:t>
            </a:r>
            <a:r>
              <a:rPr lang="en-US" sz="2400" b="1" dirty="0"/>
              <a:t> </a:t>
            </a:r>
            <a:r>
              <a:rPr lang="en-US" sz="2400" b="1" dirty="0" err="1"/>
              <a:t>giữ</a:t>
            </a:r>
            <a:r>
              <a:rPr lang="en-US" sz="2400" b="1" dirty="0"/>
              <a:t> </a:t>
            </a:r>
            <a:r>
              <a:rPr lang="en-US" sz="2400" b="1" dirty="0" err="1"/>
              <a:t>xe</a:t>
            </a:r>
            <a:r>
              <a:rPr lang="en-US" sz="2400" b="1" dirty="0"/>
              <a:t> </a:t>
            </a:r>
            <a:r>
              <a:rPr lang="en-US" sz="2400" b="1" dirty="0" err="1"/>
              <a:t>thông</a:t>
            </a:r>
            <a:r>
              <a:rPr lang="en-US" sz="2400" b="1" dirty="0"/>
              <a:t> </a:t>
            </a:r>
            <a:r>
              <a:rPr lang="en-US" sz="2400" b="1" dirty="0" err="1"/>
              <a:t>minh</a:t>
            </a:r>
            <a:endParaRPr lang="en-US" sz="24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BC5F3-20C3-46D3-932D-BAE27B3FCC69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FB1865-B654-3CD8-9943-50B38BC6F8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742" t="29949" r="69346" b="26480"/>
          <a:stretch/>
        </p:blipFill>
        <p:spPr>
          <a:xfrm>
            <a:off x="472582" y="2311033"/>
            <a:ext cx="3268246" cy="298808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9B5051-1933-3A23-50BF-02C2BA6A7FB8}"/>
              </a:ext>
            </a:extLst>
          </p:cNvPr>
          <p:cNvSpPr txBox="1"/>
          <p:nvPr/>
        </p:nvSpPr>
        <p:spPr>
          <a:xfrm>
            <a:off x="5020567" y="5534279"/>
            <a:ext cx="2417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E9BDBF-8D93-A454-0E34-F60CACAD6D74}"/>
              </a:ext>
            </a:extLst>
          </p:cNvPr>
          <p:cNvSpPr txBox="1"/>
          <p:nvPr/>
        </p:nvSpPr>
        <p:spPr>
          <a:xfrm>
            <a:off x="735977" y="5534279"/>
            <a:ext cx="27414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Uno R3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5E105E-96A4-A401-6E39-C417C00DA820}"/>
              </a:ext>
            </a:extLst>
          </p:cNvPr>
          <p:cNvSpPr txBox="1"/>
          <p:nvPr/>
        </p:nvSpPr>
        <p:spPr>
          <a:xfrm>
            <a:off x="8408899" y="5534279"/>
            <a:ext cx="14035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Triết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73B9D1-DBBC-8129-03D6-C2C15B3A3C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7837" y="2509837"/>
            <a:ext cx="1076325" cy="18383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9703C16-DFAD-5BCB-9C73-F2A6214098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600" y="2958632"/>
            <a:ext cx="1000125" cy="120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480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86753" y="1062111"/>
            <a:ext cx="8310283" cy="12946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>
                <a:solidFill>
                  <a:srgbClr val="002060"/>
                </a:solidFill>
              </a:rPr>
              <a:t>1. </a:t>
            </a:r>
            <a:r>
              <a:rPr lang="en-US" i="1" dirty="0" err="1">
                <a:solidFill>
                  <a:srgbClr val="002060"/>
                </a:solidFill>
              </a:rPr>
              <a:t>Chuẩn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bị</a:t>
            </a:r>
            <a:endParaRPr lang="en-US" b="1" i="1" dirty="0">
              <a:solidFill>
                <a:srgbClr val="00206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BC5F3-20C3-46D3-932D-BAE27B3FCC69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71A9158-7C9C-3BB0-5E32-AA3C140047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71" t="19282" r="7527" b="11301"/>
          <a:stretch/>
        </p:blipFill>
        <p:spPr>
          <a:xfrm>
            <a:off x="168811" y="1839567"/>
            <a:ext cx="10735925" cy="4760605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D161A60-29D3-52B8-F9EF-F16A29F72F6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61246" y="142393"/>
            <a:ext cx="8969189" cy="684553"/>
          </a:xfrm>
        </p:spPr>
        <p:txBody>
          <a:bodyPr/>
          <a:lstStyle/>
          <a:p>
            <a:pPr algn="ctr"/>
            <a:r>
              <a:rPr lang="en-US" sz="2400" b="1" dirty="0"/>
              <a:t>Lab 12: </a:t>
            </a:r>
            <a:r>
              <a:rPr lang="en-US" sz="2400" b="1" dirty="0" err="1"/>
              <a:t>Điều</a:t>
            </a:r>
            <a:r>
              <a:rPr lang="en-US" sz="2400" b="1" dirty="0"/>
              <a:t> </a:t>
            </a:r>
            <a:r>
              <a:rPr lang="en-US" sz="2400" b="1" dirty="0" err="1"/>
              <a:t>khiển</a:t>
            </a:r>
            <a:r>
              <a:rPr lang="en-US" sz="2400" b="1" dirty="0"/>
              <a:t> </a:t>
            </a:r>
            <a:r>
              <a:rPr lang="en-US" sz="2400" b="1" dirty="0" err="1"/>
              <a:t>Động</a:t>
            </a:r>
            <a:r>
              <a:rPr lang="en-US" sz="2400" b="1" dirty="0"/>
              <a:t> </a:t>
            </a:r>
            <a:r>
              <a:rPr lang="en-US" sz="2400" b="1" dirty="0" err="1"/>
              <a:t>cơ</a:t>
            </a:r>
            <a:r>
              <a:rPr lang="en-US" sz="2400" b="1" dirty="0"/>
              <a:t> Servo </a:t>
            </a:r>
            <a:r>
              <a:rPr lang="en-US" sz="2400" b="1" dirty="0" err="1"/>
              <a:t>và</a:t>
            </a:r>
            <a:r>
              <a:rPr lang="en-US" sz="2400" b="1" dirty="0"/>
              <a:t> </a:t>
            </a:r>
            <a:r>
              <a:rPr lang="en-US" sz="2400" b="1" dirty="0" err="1"/>
              <a:t>còi</a:t>
            </a:r>
            <a:r>
              <a:rPr lang="en-US" sz="2400" b="1" dirty="0"/>
              <a:t> </a:t>
            </a:r>
            <a:r>
              <a:rPr lang="en-US" sz="2400" b="1" dirty="0" err="1"/>
              <a:t>cấp</a:t>
            </a:r>
            <a:r>
              <a:rPr lang="en-US" sz="2400" b="1" dirty="0"/>
              <a:t> </a:t>
            </a:r>
            <a:r>
              <a:rPr lang="en-US" sz="2400" b="1" dirty="0" err="1"/>
              <a:t>cứu</a:t>
            </a:r>
            <a:br>
              <a:rPr lang="en-US" sz="2400" b="1" dirty="0"/>
            </a:br>
            <a:r>
              <a:rPr lang="en-US" sz="2400" b="1" dirty="0" err="1"/>
              <a:t>Ứng</a:t>
            </a:r>
            <a:r>
              <a:rPr lang="en-US" sz="2400" b="1" dirty="0"/>
              <a:t> </a:t>
            </a:r>
            <a:r>
              <a:rPr lang="en-US" sz="2400" b="1" dirty="0" err="1"/>
              <a:t>dụng</a:t>
            </a:r>
            <a:r>
              <a:rPr lang="en-US" sz="2400" b="1" dirty="0"/>
              <a:t> </a:t>
            </a:r>
            <a:r>
              <a:rPr lang="en-US" sz="2400" b="1" dirty="0" err="1"/>
              <a:t>triển</a:t>
            </a:r>
            <a:r>
              <a:rPr lang="en-US" sz="2400" b="1" dirty="0"/>
              <a:t> </a:t>
            </a:r>
            <a:r>
              <a:rPr lang="en-US" sz="2400" b="1" dirty="0" err="1"/>
              <a:t>khai</a:t>
            </a:r>
            <a:r>
              <a:rPr lang="en-US" sz="2400" b="1" dirty="0"/>
              <a:t> </a:t>
            </a:r>
            <a:r>
              <a:rPr lang="en-US" sz="2400" b="1" dirty="0" err="1"/>
              <a:t>bãi</a:t>
            </a:r>
            <a:r>
              <a:rPr lang="en-US" sz="2400" b="1" dirty="0"/>
              <a:t> </a:t>
            </a:r>
            <a:r>
              <a:rPr lang="en-US" sz="2400" b="1" dirty="0" err="1"/>
              <a:t>giữ</a:t>
            </a:r>
            <a:r>
              <a:rPr lang="en-US" sz="2400" b="1" dirty="0"/>
              <a:t> </a:t>
            </a:r>
            <a:r>
              <a:rPr lang="en-US" sz="2400" b="1" dirty="0" err="1"/>
              <a:t>xe</a:t>
            </a:r>
            <a:r>
              <a:rPr lang="en-US" sz="2400" b="1" dirty="0"/>
              <a:t> </a:t>
            </a:r>
            <a:r>
              <a:rPr lang="en-US" sz="2400" b="1" dirty="0" err="1"/>
              <a:t>thông</a:t>
            </a:r>
            <a:r>
              <a:rPr lang="en-US" sz="2400" b="1" dirty="0"/>
              <a:t> </a:t>
            </a:r>
            <a:r>
              <a:rPr lang="en-US" sz="2400" b="1" dirty="0" err="1"/>
              <a:t>minh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837622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39969" y="1073510"/>
            <a:ext cx="8310283" cy="6570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>
                <a:solidFill>
                  <a:srgbClr val="002060"/>
                </a:solidFill>
              </a:rPr>
              <a:t>2. </a:t>
            </a:r>
            <a:r>
              <a:rPr lang="vi-VN" i="1" dirty="0">
                <a:solidFill>
                  <a:srgbClr val="002060"/>
                </a:solidFill>
              </a:rPr>
              <a:t>Sơ đồ lắp ráp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động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cơ</a:t>
            </a:r>
            <a:r>
              <a:rPr lang="en-US" i="1" dirty="0">
                <a:solidFill>
                  <a:srgbClr val="002060"/>
                </a:solidFill>
              </a:rPr>
              <a:t> Servo</a:t>
            </a:r>
            <a:endParaRPr lang="en-US" b="1" i="1" dirty="0">
              <a:solidFill>
                <a:srgbClr val="00206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BC5F3-20C3-46D3-932D-BAE27B3FCC69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C1D77D-42E7-DCFB-0D61-B813AB178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075" y="1931654"/>
            <a:ext cx="6692713" cy="4917735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990AF0F-7D45-869F-A40C-3EC8D9FB4FD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61246" y="142393"/>
            <a:ext cx="8969189" cy="684553"/>
          </a:xfrm>
        </p:spPr>
        <p:txBody>
          <a:bodyPr/>
          <a:lstStyle/>
          <a:p>
            <a:pPr algn="ctr"/>
            <a:r>
              <a:rPr lang="en-US" sz="2400" b="1" dirty="0"/>
              <a:t>Lab 12: </a:t>
            </a:r>
            <a:r>
              <a:rPr lang="en-US" sz="2400" b="1" dirty="0" err="1"/>
              <a:t>Điều</a:t>
            </a:r>
            <a:r>
              <a:rPr lang="en-US" sz="2400" b="1" dirty="0"/>
              <a:t> </a:t>
            </a:r>
            <a:r>
              <a:rPr lang="en-US" sz="2400" b="1" dirty="0" err="1"/>
              <a:t>khiển</a:t>
            </a:r>
            <a:r>
              <a:rPr lang="en-US" sz="2400" b="1" dirty="0"/>
              <a:t> </a:t>
            </a:r>
            <a:r>
              <a:rPr lang="en-US" sz="2400" b="1" dirty="0" err="1"/>
              <a:t>Động</a:t>
            </a:r>
            <a:r>
              <a:rPr lang="en-US" sz="2400" b="1" dirty="0"/>
              <a:t> </a:t>
            </a:r>
            <a:r>
              <a:rPr lang="en-US" sz="2400" b="1" dirty="0" err="1"/>
              <a:t>cơ</a:t>
            </a:r>
            <a:r>
              <a:rPr lang="en-US" sz="2400" b="1" dirty="0"/>
              <a:t> Servo </a:t>
            </a:r>
            <a:r>
              <a:rPr lang="en-US" sz="2400" b="1" dirty="0" err="1"/>
              <a:t>và</a:t>
            </a:r>
            <a:r>
              <a:rPr lang="en-US" sz="2400" b="1" dirty="0"/>
              <a:t> </a:t>
            </a:r>
            <a:r>
              <a:rPr lang="en-US" sz="2400" b="1" dirty="0" err="1"/>
              <a:t>còi</a:t>
            </a:r>
            <a:r>
              <a:rPr lang="en-US" sz="2400" b="1" dirty="0"/>
              <a:t> </a:t>
            </a:r>
            <a:r>
              <a:rPr lang="en-US" sz="2400" b="1" dirty="0" err="1"/>
              <a:t>cấp</a:t>
            </a:r>
            <a:r>
              <a:rPr lang="en-US" sz="2400" b="1" dirty="0"/>
              <a:t> </a:t>
            </a:r>
            <a:r>
              <a:rPr lang="en-US" sz="2400" b="1" dirty="0" err="1"/>
              <a:t>cứu</a:t>
            </a:r>
            <a:br>
              <a:rPr lang="en-US" sz="2400" b="1" dirty="0"/>
            </a:br>
            <a:r>
              <a:rPr lang="en-US" sz="2400" b="1" dirty="0" err="1"/>
              <a:t>Ứng</a:t>
            </a:r>
            <a:r>
              <a:rPr lang="en-US" sz="2400" b="1" dirty="0"/>
              <a:t> </a:t>
            </a:r>
            <a:r>
              <a:rPr lang="en-US" sz="2400" b="1" dirty="0" err="1"/>
              <a:t>dụng</a:t>
            </a:r>
            <a:r>
              <a:rPr lang="en-US" sz="2400" b="1" dirty="0"/>
              <a:t> </a:t>
            </a:r>
            <a:r>
              <a:rPr lang="en-US" sz="2400" b="1" dirty="0" err="1"/>
              <a:t>triển</a:t>
            </a:r>
            <a:r>
              <a:rPr lang="en-US" sz="2400" b="1" dirty="0"/>
              <a:t> </a:t>
            </a:r>
            <a:r>
              <a:rPr lang="en-US" sz="2400" b="1" dirty="0" err="1"/>
              <a:t>khai</a:t>
            </a:r>
            <a:r>
              <a:rPr lang="en-US" sz="2400" b="1" dirty="0"/>
              <a:t> </a:t>
            </a:r>
            <a:r>
              <a:rPr lang="en-US" sz="2400" b="1" dirty="0" err="1"/>
              <a:t>bãi</a:t>
            </a:r>
            <a:r>
              <a:rPr lang="en-US" sz="2400" b="1" dirty="0"/>
              <a:t> </a:t>
            </a:r>
            <a:r>
              <a:rPr lang="en-US" sz="2400" b="1" dirty="0" err="1"/>
              <a:t>giữ</a:t>
            </a:r>
            <a:r>
              <a:rPr lang="en-US" sz="2400" b="1" dirty="0"/>
              <a:t> </a:t>
            </a:r>
            <a:r>
              <a:rPr lang="en-US" sz="2400" b="1" dirty="0" err="1"/>
              <a:t>xe</a:t>
            </a:r>
            <a:r>
              <a:rPr lang="en-US" sz="2400" b="1" dirty="0"/>
              <a:t> </a:t>
            </a:r>
            <a:r>
              <a:rPr lang="en-US" sz="2400" b="1" dirty="0" err="1"/>
              <a:t>thông</a:t>
            </a:r>
            <a:r>
              <a:rPr lang="en-US" sz="2400" b="1" dirty="0"/>
              <a:t> </a:t>
            </a:r>
            <a:r>
              <a:rPr lang="en-US" sz="2400" b="1" dirty="0" err="1"/>
              <a:t>minh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056671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0317" y="895533"/>
            <a:ext cx="8310283" cy="65707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i="1" dirty="0">
                <a:solidFill>
                  <a:srgbClr val="002060"/>
                </a:solidFill>
              </a:rPr>
              <a:t>3. </a:t>
            </a:r>
            <a:r>
              <a:rPr lang="en-US" i="1" dirty="0" err="1">
                <a:solidFill>
                  <a:srgbClr val="002060"/>
                </a:solidFill>
              </a:rPr>
              <a:t>Ví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dụ</a:t>
            </a:r>
            <a:r>
              <a:rPr lang="en-US" i="1" dirty="0">
                <a:solidFill>
                  <a:srgbClr val="002060"/>
                </a:solidFill>
              </a:rPr>
              <a:t> 1: </a:t>
            </a:r>
            <a:r>
              <a:rPr lang="en-US" i="1" dirty="0" err="1">
                <a:solidFill>
                  <a:srgbClr val="002060"/>
                </a:solidFill>
              </a:rPr>
              <a:t>Điều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khiển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động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cơ</a:t>
            </a:r>
            <a:r>
              <a:rPr lang="en-US" i="1" dirty="0">
                <a:solidFill>
                  <a:srgbClr val="002060"/>
                </a:solidFill>
              </a:rPr>
              <a:t> quay </a:t>
            </a:r>
            <a:r>
              <a:rPr lang="en-US" i="1" dirty="0" err="1">
                <a:solidFill>
                  <a:srgbClr val="002060"/>
                </a:solidFill>
              </a:rPr>
              <a:t>từ</a:t>
            </a:r>
            <a:r>
              <a:rPr lang="en-US" i="1" dirty="0">
                <a:solidFill>
                  <a:srgbClr val="002060"/>
                </a:solidFill>
              </a:rPr>
              <a:t> 0 </a:t>
            </a:r>
            <a:r>
              <a:rPr lang="en-US" i="1" dirty="0">
                <a:solidFill>
                  <a:srgbClr val="002060"/>
                </a:solidFill>
                <a:sym typeface="Wingdings" panose="05000000000000000000" pitchFamily="2" charset="2"/>
              </a:rPr>
              <a:t>180 </a:t>
            </a:r>
            <a:r>
              <a:rPr lang="en-US" i="1" dirty="0" err="1">
                <a:solidFill>
                  <a:srgbClr val="002060"/>
                </a:solidFill>
                <a:sym typeface="Wingdings" panose="05000000000000000000" pitchFamily="2" charset="2"/>
              </a:rPr>
              <a:t>độ</a:t>
            </a:r>
            <a:endParaRPr lang="en-US" b="1" i="1" dirty="0">
              <a:solidFill>
                <a:srgbClr val="00206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BC5F3-20C3-46D3-932D-BAE27B3FCC6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718B3C-8D46-F59B-7588-FC5A3042CA5C}"/>
              </a:ext>
            </a:extLst>
          </p:cNvPr>
          <p:cNvSpPr txBox="1"/>
          <p:nvPr/>
        </p:nvSpPr>
        <p:spPr>
          <a:xfrm>
            <a:off x="528919" y="1421303"/>
            <a:ext cx="5723964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400" dirty="0"/>
              <a:t>#include &lt;Servo.h&gt;	//Khai báo thư viện cho động cơ Servo</a:t>
            </a:r>
          </a:p>
          <a:p>
            <a:r>
              <a:rPr lang="vi-VN" sz="1400" dirty="0"/>
              <a:t>Servo myServo;		//Tạo biến tham chiếu  /nói về / refer đến động cơ</a:t>
            </a:r>
          </a:p>
          <a:p>
            <a:r>
              <a:rPr lang="vi-VN" sz="1400" dirty="0"/>
              <a:t>int servoPin=9;		//Gán biến cho chân 9, </a:t>
            </a:r>
          </a:p>
          <a:p>
            <a:r>
              <a:rPr lang="vi-VN" sz="1400" dirty="0"/>
              <a:t>	//Chân 9 sẽ đẩy điện ra để điều khiển động cơ</a:t>
            </a:r>
          </a:p>
          <a:p>
            <a:endParaRPr lang="vi-VN" sz="1400" dirty="0"/>
          </a:p>
          <a:p>
            <a:endParaRPr lang="vi-VN" sz="1400" dirty="0"/>
          </a:p>
          <a:p>
            <a:r>
              <a:rPr lang="vi-VN" sz="1400" dirty="0"/>
              <a:t>void setup()</a:t>
            </a:r>
          </a:p>
          <a:p>
            <a:r>
              <a:rPr lang="vi-VN" sz="1400" dirty="0"/>
              <a:t>{</a:t>
            </a:r>
          </a:p>
          <a:p>
            <a:r>
              <a:rPr lang="vi-VN" sz="1400" dirty="0"/>
              <a:t>  pinMode(servoPin, OUTPUT);	//Ta chủ động đẩy điện ra chân này</a:t>
            </a:r>
          </a:p>
          <a:p>
            <a:r>
              <a:rPr lang="vi-VN" sz="1400" dirty="0"/>
              <a:t>  myServo.attach(servoPin);		//Gắn động cơ chơi với chân 9</a:t>
            </a:r>
          </a:p>
          <a:p>
            <a:r>
              <a:rPr lang="vi-VN" sz="1400" dirty="0"/>
              <a:t>}</a:t>
            </a:r>
          </a:p>
          <a:p>
            <a:endParaRPr lang="vi-VN" sz="1400" dirty="0"/>
          </a:p>
          <a:p>
            <a:r>
              <a:rPr lang="vi-VN" sz="1400" dirty="0"/>
              <a:t>void loop()</a:t>
            </a:r>
          </a:p>
          <a:p>
            <a:r>
              <a:rPr lang="vi-VN" sz="1400" dirty="0"/>
              <a:t>{</a:t>
            </a:r>
          </a:p>
          <a:p>
            <a:r>
              <a:rPr lang="vi-VN" sz="1400" dirty="0"/>
              <a:t> for (int pos = 0; pos &lt; 180; pos++)</a:t>
            </a:r>
          </a:p>
          <a:p>
            <a:r>
              <a:rPr lang="vi-VN" sz="1400" dirty="0"/>
              <a:t> {</a:t>
            </a:r>
          </a:p>
          <a:p>
            <a:r>
              <a:rPr lang="vi-VN" sz="1400" dirty="0"/>
              <a:t>   	myServo.write(pos);</a:t>
            </a:r>
          </a:p>
          <a:p>
            <a:r>
              <a:rPr lang="vi-VN" sz="1400" dirty="0"/>
              <a:t>   	delay(50);</a:t>
            </a:r>
          </a:p>
          <a:p>
            <a:r>
              <a:rPr lang="vi-VN" sz="1400" dirty="0"/>
              <a:t> }</a:t>
            </a:r>
          </a:p>
          <a:p>
            <a:r>
              <a:rPr lang="vi-VN" sz="1400" dirty="0"/>
              <a:t>}</a:t>
            </a:r>
            <a:endParaRPr lang="en-US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519E01-6487-0FFF-8A4B-D84CC01CB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2883" y="1552608"/>
            <a:ext cx="5939117" cy="4486275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A95B15F-5A24-BDC1-AB7E-FA926994C42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61246" y="142393"/>
            <a:ext cx="8969189" cy="684553"/>
          </a:xfrm>
        </p:spPr>
        <p:txBody>
          <a:bodyPr/>
          <a:lstStyle/>
          <a:p>
            <a:pPr algn="ctr"/>
            <a:r>
              <a:rPr lang="en-US" sz="2400" b="1" dirty="0"/>
              <a:t>Lab 12: </a:t>
            </a:r>
            <a:r>
              <a:rPr lang="en-US" sz="2400" b="1" dirty="0" err="1"/>
              <a:t>Điều</a:t>
            </a:r>
            <a:r>
              <a:rPr lang="en-US" sz="2400" b="1" dirty="0"/>
              <a:t> </a:t>
            </a:r>
            <a:r>
              <a:rPr lang="en-US" sz="2400" b="1" dirty="0" err="1"/>
              <a:t>khiển</a:t>
            </a:r>
            <a:r>
              <a:rPr lang="en-US" sz="2400" b="1" dirty="0"/>
              <a:t> </a:t>
            </a:r>
            <a:r>
              <a:rPr lang="en-US" sz="2400" b="1" dirty="0" err="1"/>
              <a:t>Động</a:t>
            </a:r>
            <a:r>
              <a:rPr lang="en-US" sz="2400" b="1" dirty="0"/>
              <a:t> </a:t>
            </a:r>
            <a:r>
              <a:rPr lang="en-US" sz="2400" b="1" dirty="0" err="1"/>
              <a:t>cơ</a:t>
            </a:r>
            <a:r>
              <a:rPr lang="en-US" sz="2400" b="1" dirty="0"/>
              <a:t> Servo </a:t>
            </a:r>
            <a:r>
              <a:rPr lang="en-US" sz="2400" b="1" dirty="0" err="1"/>
              <a:t>và</a:t>
            </a:r>
            <a:r>
              <a:rPr lang="en-US" sz="2400" b="1" dirty="0"/>
              <a:t> </a:t>
            </a:r>
            <a:r>
              <a:rPr lang="en-US" sz="2400" b="1" dirty="0" err="1"/>
              <a:t>còi</a:t>
            </a:r>
            <a:r>
              <a:rPr lang="en-US" sz="2400" b="1" dirty="0"/>
              <a:t> </a:t>
            </a:r>
            <a:r>
              <a:rPr lang="en-US" sz="2400" b="1" dirty="0" err="1"/>
              <a:t>cấp</a:t>
            </a:r>
            <a:r>
              <a:rPr lang="en-US" sz="2400" b="1" dirty="0"/>
              <a:t> </a:t>
            </a:r>
            <a:r>
              <a:rPr lang="en-US" sz="2400" b="1" dirty="0" err="1"/>
              <a:t>cứu</a:t>
            </a:r>
            <a:br>
              <a:rPr lang="en-US" sz="2400" b="1" dirty="0"/>
            </a:br>
            <a:r>
              <a:rPr lang="en-US" sz="2400" b="1" dirty="0" err="1"/>
              <a:t>Ứng</a:t>
            </a:r>
            <a:r>
              <a:rPr lang="en-US" sz="2400" b="1" dirty="0"/>
              <a:t> </a:t>
            </a:r>
            <a:r>
              <a:rPr lang="en-US" sz="2400" b="1" dirty="0" err="1"/>
              <a:t>dụng</a:t>
            </a:r>
            <a:r>
              <a:rPr lang="en-US" sz="2400" b="1" dirty="0"/>
              <a:t> </a:t>
            </a:r>
            <a:r>
              <a:rPr lang="en-US" sz="2400" b="1" dirty="0" err="1"/>
              <a:t>triển</a:t>
            </a:r>
            <a:r>
              <a:rPr lang="en-US" sz="2400" b="1" dirty="0"/>
              <a:t> </a:t>
            </a:r>
            <a:r>
              <a:rPr lang="en-US" sz="2400" b="1" dirty="0" err="1"/>
              <a:t>khai</a:t>
            </a:r>
            <a:r>
              <a:rPr lang="en-US" sz="2400" b="1" dirty="0"/>
              <a:t> </a:t>
            </a:r>
            <a:r>
              <a:rPr lang="en-US" sz="2400" b="1" dirty="0" err="1"/>
              <a:t>bãi</a:t>
            </a:r>
            <a:r>
              <a:rPr lang="en-US" sz="2400" b="1" dirty="0"/>
              <a:t> </a:t>
            </a:r>
            <a:r>
              <a:rPr lang="en-US" sz="2400" b="1" dirty="0" err="1"/>
              <a:t>giữ</a:t>
            </a:r>
            <a:r>
              <a:rPr lang="en-US" sz="2400" b="1" dirty="0"/>
              <a:t> </a:t>
            </a:r>
            <a:r>
              <a:rPr lang="en-US" sz="2400" b="1" dirty="0" err="1"/>
              <a:t>xe</a:t>
            </a:r>
            <a:r>
              <a:rPr lang="en-US" sz="2400" b="1" dirty="0"/>
              <a:t> </a:t>
            </a:r>
            <a:r>
              <a:rPr lang="en-US" sz="2400" b="1" dirty="0" err="1"/>
              <a:t>thông</a:t>
            </a:r>
            <a:r>
              <a:rPr lang="en-US" sz="2400" b="1" dirty="0"/>
              <a:t> </a:t>
            </a:r>
            <a:r>
              <a:rPr lang="en-US" sz="2400" b="1" dirty="0" err="1"/>
              <a:t>minh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994830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0317" y="981131"/>
            <a:ext cx="8310283" cy="657075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i="1" dirty="0">
                <a:solidFill>
                  <a:srgbClr val="002060"/>
                </a:solidFill>
              </a:rPr>
              <a:t>3. </a:t>
            </a:r>
            <a:r>
              <a:rPr lang="en-US" i="1" dirty="0" err="1">
                <a:solidFill>
                  <a:srgbClr val="002060"/>
                </a:solidFill>
              </a:rPr>
              <a:t>Ví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dụ</a:t>
            </a:r>
            <a:r>
              <a:rPr lang="en-US" i="1" dirty="0">
                <a:solidFill>
                  <a:srgbClr val="002060"/>
                </a:solidFill>
              </a:rPr>
              <a:t> 2: </a:t>
            </a:r>
            <a:r>
              <a:rPr lang="en-US" i="1" dirty="0" err="1">
                <a:solidFill>
                  <a:srgbClr val="002060"/>
                </a:solidFill>
              </a:rPr>
              <a:t>Điều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khiển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động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cơ</a:t>
            </a:r>
            <a:r>
              <a:rPr lang="en-US" i="1" dirty="0">
                <a:solidFill>
                  <a:srgbClr val="002060"/>
                </a:solidFill>
              </a:rPr>
              <a:t> quay </a:t>
            </a:r>
            <a:r>
              <a:rPr lang="en-US" i="1" dirty="0" err="1">
                <a:solidFill>
                  <a:srgbClr val="002060"/>
                </a:solidFill>
              </a:rPr>
              <a:t>từ</a:t>
            </a:r>
            <a:r>
              <a:rPr lang="en-US" i="1" dirty="0">
                <a:solidFill>
                  <a:srgbClr val="002060"/>
                </a:solidFill>
              </a:rPr>
              <a:t> 0 </a:t>
            </a:r>
            <a:r>
              <a:rPr lang="en-US" i="1" dirty="0">
                <a:solidFill>
                  <a:srgbClr val="002060"/>
                </a:solidFill>
                <a:sym typeface="Wingdings" panose="05000000000000000000" pitchFamily="2" charset="2"/>
              </a:rPr>
              <a:t>180 </a:t>
            </a:r>
            <a:r>
              <a:rPr lang="en-US" i="1" dirty="0" err="1">
                <a:solidFill>
                  <a:srgbClr val="002060"/>
                </a:solidFill>
                <a:sym typeface="Wingdings" panose="05000000000000000000" pitchFamily="2" charset="2"/>
              </a:rPr>
              <a:t>độ</a:t>
            </a:r>
            <a:r>
              <a:rPr lang="en-US" i="1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2060"/>
                </a:solidFill>
                <a:sym typeface="Wingdings" panose="05000000000000000000" pitchFamily="2" charset="2"/>
              </a:rPr>
              <a:t>và</a:t>
            </a:r>
            <a:r>
              <a:rPr lang="en-US" i="1" dirty="0">
                <a:solidFill>
                  <a:srgbClr val="002060"/>
                </a:solidFill>
                <a:sym typeface="Wingdings" panose="05000000000000000000" pitchFamily="2" charset="2"/>
              </a:rPr>
              <a:t> quay </a:t>
            </a:r>
            <a:r>
              <a:rPr lang="en-US" i="1" dirty="0" err="1">
                <a:solidFill>
                  <a:srgbClr val="002060"/>
                </a:solidFill>
                <a:sym typeface="Wingdings" panose="05000000000000000000" pitchFamily="2" charset="2"/>
              </a:rPr>
              <a:t>ngược</a:t>
            </a:r>
            <a:r>
              <a:rPr lang="en-US" i="1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2060"/>
                </a:solidFill>
                <a:sym typeface="Wingdings" panose="05000000000000000000" pitchFamily="2" charset="2"/>
              </a:rPr>
              <a:t>lại</a:t>
            </a:r>
            <a:endParaRPr lang="en-US" b="1" i="1" dirty="0">
              <a:solidFill>
                <a:srgbClr val="00206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BC5F3-20C3-46D3-932D-BAE27B3FCC69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718B3C-8D46-F59B-7588-FC5A3042CA5C}"/>
              </a:ext>
            </a:extLst>
          </p:cNvPr>
          <p:cNvSpPr txBox="1"/>
          <p:nvPr/>
        </p:nvSpPr>
        <p:spPr>
          <a:xfrm>
            <a:off x="470649" y="1552608"/>
            <a:ext cx="5625352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100" dirty="0"/>
              <a:t>#include &lt;Servo.h&gt;	//Khai báo thư viện cho động cơ Servo</a:t>
            </a:r>
          </a:p>
          <a:p>
            <a:r>
              <a:rPr lang="vi-VN" sz="1100" dirty="0"/>
              <a:t>Servo myServo;	//Tạo biến tham chiếu  /nói về / refer đến động cơ</a:t>
            </a:r>
          </a:p>
          <a:p>
            <a:r>
              <a:rPr lang="vi-VN" sz="1100" dirty="0"/>
              <a:t>int servoPin=9;	//Gán biến cho chân 9, </a:t>
            </a:r>
          </a:p>
          <a:p>
            <a:r>
              <a:rPr lang="vi-VN" sz="1100" dirty="0"/>
              <a:t>		//Chân 9 sẽ đẩy điện ra để điều khiển động cơ</a:t>
            </a:r>
          </a:p>
          <a:p>
            <a:endParaRPr lang="vi-VN" sz="1100" dirty="0"/>
          </a:p>
          <a:p>
            <a:endParaRPr lang="vi-VN" sz="1100" dirty="0"/>
          </a:p>
          <a:p>
            <a:r>
              <a:rPr lang="vi-VN" sz="1100" dirty="0"/>
              <a:t>void setup()</a:t>
            </a:r>
          </a:p>
          <a:p>
            <a:r>
              <a:rPr lang="vi-VN" sz="1100" dirty="0"/>
              <a:t>{</a:t>
            </a:r>
          </a:p>
          <a:p>
            <a:r>
              <a:rPr lang="vi-VN" sz="1100" dirty="0"/>
              <a:t>  pinMode(servoPin, OUTPUT);	//Ta chủ động đẩy điện ra chân này</a:t>
            </a:r>
          </a:p>
          <a:p>
            <a:r>
              <a:rPr lang="vi-VN" sz="1100" dirty="0"/>
              <a:t>  myServo.attach(servoPin);	//Gắn động cơ chơi với chân 9</a:t>
            </a:r>
          </a:p>
          <a:p>
            <a:r>
              <a:rPr lang="vi-VN" sz="1100" dirty="0"/>
              <a:t>}</a:t>
            </a:r>
          </a:p>
          <a:p>
            <a:endParaRPr lang="vi-VN" sz="1100" dirty="0"/>
          </a:p>
          <a:p>
            <a:r>
              <a:rPr lang="vi-VN" sz="1100" dirty="0"/>
              <a:t>void loop()</a:t>
            </a:r>
          </a:p>
          <a:p>
            <a:r>
              <a:rPr lang="vi-VN" sz="1100" dirty="0"/>
              <a:t>{</a:t>
            </a:r>
          </a:p>
          <a:p>
            <a:r>
              <a:rPr lang="vi-VN" sz="1100" dirty="0"/>
              <a:t> for (int pos = 0; pos &lt; 180; pos++)</a:t>
            </a:r>
          </a:p>
          <a:p>
            <a:r>
              <a:rPr lang="vi-VN" sz="1100" dirty="0"/>
              <a:t> {</a:t>
            </a:r>
          </a:p>
          <a:p>
            <a:r>
              <a:rPr lang="vi-VN" sz="1100" dirty="0"/>
              <a:t>   	myServo.write(pos);</a:t>
            </a:r>
          </a:p>
          <a:p>
            <a:r>
              <a:rPr lang="vi-VN" sz="1100" dirty="0"/>
              <a:t>   	delay(50);</a:t>
            </a:r>
          </a:p>
          <a:p>
            <a:r>
              <a:rPr lang="vi-VN" sz="1100" dirty="0"/>
              <a:t> }</a:t>
            </a:r>
          </a:p>
          <a:p>
            <a:r>
              <a:rPr lang="vi-VN" sz="1100" dirty="0"/>
              <a:t> for (int pos = 180; pos &gt; 0; pos--)</a:t>
            </a:r>
          </a:p>
          <a:p>
            <a:r>
              <a:rPr lang="vi-VN" sz="1100" dirty="0"/>
              <a:t> {</a:t>
            </a:r>
          </a:p>
          <a:p>
            <a:r>
              <a:rPr lang="vi-VN" sz="1100" dirty="0"/>
              <a:t>   	myServo.write(pos);</a:t>
            </a:r>
          </a:p>
          <a:p>
            <a:r>
              <a:rPr lang="vi-VN" sz="1100" dirty="0"/>
              <a:t>   	delay(50);</a:t>
            </a:r>
          </a:p>
          <a:p>
            <a:r>
              <a:rPr lang="vi-VN" sz="1100" dirty="0"/>
              <a:t> }</a:t>
            </a:r>
          </a:p>
          <a:p>
            <a:r>
              <a:rPr lang="vi-VN" sz="1100" dirty="0"/>
              <a:t>}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36D92D-4E5A-C562-9E23-392922DCD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2883" y="1552608"/>
            <a:ext cx="5939117" cy="4486275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F26D1D4-E493-C224-7B0E-BFD46D1E6F1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61246" y="142393"/>
            <a:ext cx="8969189" cy="684553"/>
          </a:xfrm>
        </p:spPr>
        <p:txBody>
          <a:bodyPr/>
          <a:lstStyle/>
          <a:p>
            <a:pPr algn="ctr"/>
            <a:r>
              <a:rPr lang="en-US" sz="2400" b="1" dirty="0"/>
              <a:t>Lab 12: </a:t>
            </a:r>
            <a:r>
              <a:rPr lang="en-US" sz="2400" b="1" dirty="0" err="1"/>
              <a:t>Điều</a:t>
            </a:r>
            <a:r>
              <a:rPr lang="en-US" sz="2400" b="1" dirty="0"/>
              <a:t> </a:t>
            </a:r>
            <a:r>
              <a:rPr lang="en-US" sz="2400" b="1" dirty="0" err="1"/>
              <a:t>khiển</a:t>
            </a:r>
            <a:r>
              <a:rPr lang="en-US" sz="2400" b="1" dirty="0"/>
              <a:t> </a:t>
            </a:r>
            <a:r>
              <a:rPr lang="en-US" sz="2400" b="1" dirty="0" err="1"/>
              <a:t>Động</a:t>
            </a:r>
            <a:r>
              <a:rPr lang="en-US" sz="2400" b="1" dirty="0"/>
              <a:t> </a:t>
            </a:r>
            <a:r>
              <a:rPr lang="en-US" sz="2400" b="1" dirty="0" err="1"/>
              <a:t>cơ</a:t>
            </a:r>
            <a:r>
              <a:rPr lang="en-US" sz="2400" b="1" dirty="0"/>
              <a:t> Servo </a:t>
            </a:r>
            <a:r>
              <a:rPr lang="en-US" sz="2400" b="1" dirty="0" err="1"/>
              <a:t>và</a:t>
            </a:r>
            <a:r>
              <a:rPr lang="en-US" sz="2400" b="1" dirty="0"/>
              <a:t> </a:t>
            </a:r>
            <a:r>
              <a:rPr lang="en-US" sz="2400" b="1" dirty="0" err="1"/>
              <a:t>còi</a:t>
            </a:r>
            <a:r>
              <a:rPr lang="en-US" sz="2400" b="1" dirty="0"/>
              <a:t> </a:t>
            </a:r>
            <a:r>
              <a:rPr lang="en-US" sz="2400" b="1" dirty="0" err="1"/>
              <a:t>cấp</a:t>
            </a:r>
            <a:r>
              <a:rPr lang="en-US" sz="2400" b="1" dirty="0"/>
              <a:t> </a:t>
            </a:r>
            <a:r>
              <a:rPr lang="en-US" sz="2400" b="1" dirty="0" err="1"/>
              <a:t>cứu</a:t>
            </a:r>
            <a:br>
              <a:rPr lang="en-US" sz="2400" b="1" dirty="0"/>
            </a:br>
            <a:r>
              <a:rPr lang="en-US" sz="2400" b="1" dirty="0" err="1"/>
              <a:t>Ứng</a:t>
            </a:r>
            <a:r>
              <a:rPr lang="en-US" sz="2400" b="1" dirty="0"/>
              <a:t> </a:t>
            </a:r>
            <a:r>
              <a:rPr lang="en-US" sz="2400" b="1" dirty="0" err="1"/>
              <a:t>dụng</a:t>
            </a:r>
            <a:r>
              <a:rPr lang="en-US" sz="2400" b="1" dirty="0"/>
              <a:t> </a:t>
            </a:r>
            <a:r>
              <a:rPr lang="en-US" sz="2400" b="1" dirty="0" err="1"/>
              <a:t>triển</a:t>
            </a:r>
            <a:r>
              <a:rPr lang="en-US" sz="2400" b="1" dirty="0"/>
              <a:t> </a:t>
            </a:r>
            <a:r>
              <a:rPr lang="en-US" sz="2400" b="1" dirty="0" err="1"/>
              <a:t>khai</a:t>
            </a:r>
            <a:r>
              <a:rPr lang="en-US" sz="2400" b="1" dirty="0"/>
              <a:t> </a:t>
            </a:r>
            <a:r>
              <a:rPr lang="en-US" sz="2400" b="1" dirty="0" err="1"/>
              <a:t>bãi</a:t>
            </a:r>
            <a:r>
              <a:rPr lang="en-US" sz="2400" b="1" dirty="0"/>
              <a:t> </a:t>
            </a:r>
            <a:r>
              <a:rPr lang="en-US" sz="2400" b="1" dirty="0" err="1"/>
              <a:t>giữ</a:t>
            </a:r>
            <a:r>
              <a:rPr lang="en-US" sz="2400" b="1" dirty="0"/>
              <a:t> </a:t>
            </a:r>
            <a:r>
              <a:rPr lang="en-US" sz="2400" b="1" dirty="0" err="1"/>
              <a:t>xe</a:t>
            </a:r>
            <a:r>
              <a:rPr lang="en-US" sz="2400" b="1" dirty="0"/>
              <a:t> </a:t>
            </a:r>
            <a:r>
              <a:rPr lang="en-US" sz="2400" b="1" dirty="0" err="1"/>
              <a:t>thông</a:t>
            </a:r>
            <a:r>
              <a:rPr lang="en-US" sz="2400" b="1" dirty="0"/>
              <a:t> </a:t>
            </a:r>
            <a:r>
              <a:rPr lang="en-US" sz="2400" b="1" dirty="0" err="1"/>
              <a:t>minh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66396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0317" y="981131"/>
            <a:ext cx="8310283" cy="657075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i="1" dirty="0">
                <a:solidFill>
                  <a:srgbClr val="002060"/>
                </a:solidFill>
              </a:rPr>
              <a:t>3. </a:t>
            </a:r>
            <a:r>
              <a:rPr lang="en-US" i="1" dirty="0" err="1">
                <a:solidFill>
                  <a:srgbClr val="002060"/>
                </a:solidFill>
              </a:rPr>
              <a:t>Ví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dụ</a:t>
            </a:r>
            <a:r>
              <a:rPr lang="en-US" i="1" dirty="0">
                <a:solidFill>
                  <a:srgbClr val="002060"/>
                </a:solidFill>
              </a:rPr>
              <a:t> 3: </a:t>
            </a:r>
            <a:r>
              <a:rPr lang="en-US" i="1" dirty="0" err="1">
                <a:solidFill>
                  <a:srgbClr val="002060"/>
                </a:solidFill>
              </a:rPr>
              <a:t>Điều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khiển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động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cơ</a:t>
            </a:r>
            <a:r>
              <a:rPr lang="en-US" i="1" dirty="0">
                <a:solidFill>
                  <a:srgbClr val="002060"/>
                </a:solidFill>
              </a:rPr>
              <a:t> quay </a:t>
            </a:r>
            <a:r>
              <a:rPr lang="en-US" i="1" dirty="0" err="1">
                <a:solidFill>
                  <a:srgbClr val="002060"/>
                </a:solidFill>
              </a:rPr>
              <a:t>một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góc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bất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kỳ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theo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biến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trở</a:t>
            </a:r>
            <a:endParaRPr lang="en-US" b="1" i="1" dirty="0">
              <a:solidFill>
                <a:srgbClr val="00206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BC5F3-20C3-46D3-932D-BAE27B3FCC69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718B3C-8D46-F59B-7588-FC5A3042CA5C}"/>
              </a:ext>
            </a:extLst>
          </p:cNvPr>
          <p:cNvSpPr txBox="1"/>
          <p:nvPr/>
        </p:nvSpPr>
        <p:spPr>
          <a:xfrm>
            <a:off x="174813" y="1512266"/>
            <a:ext cx="6572811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100" dirty="0"/>
              <a:t>#include &lt;Servo.h&gt;	//Khai báo thư viện cho động cơ Servo</a:t>
            </a:r>
          </a:p>
          <a:p>
            <a:r>
              <a:rPr lang="vi-VN" sz="1100" dirty="0"/>
              <a:t>Servo myServo;	//Tạo biến tham chiếu  /nói về / refer đến động cơ</a:t>
            </a:r>
          </a:p>
          <a:p>
            <a:r>
              <a:rPr lang="vi-VN" sz="1100" dirty="0"/>
              <a:t>int servoPin=9;	//Gán biến cho chân 9, </a:t>
            </a:r>
          </a:p>
          <a:p>
            <a:r>
              <a:rPr lang="vi-VN" sz="1100" dirty="0"/>
              <a:t>		//Chân 9 sẽ đẩy điện ra để điều khiển động cơ</a:t>
            </a:r>
          </a:p>
          <a:p>
            <a:r>
              <a:rPr lang="vi-VN" sz="1100" dirty="0"/>
              <a:t>int ptmValue=0;	//Giá trị chân A0 (analog) điện vào từ 0--&gt;5v</a:t>
            </a:r>
          </a:p>
          <a:p>
            <a:r>
              <a:rPr lang="vi-VN" sz="1100" dirty="0"/>
              <a:t>	//Dựa vào mạch ADC có sẵn trên Arduino đọc ra giá trị từ 0 --&gt; 1023</a:t>
            </a:r>
          </a:p>
          <a:p>
            <a:r>
              <a:rPr lang="vi-VN" sz="1100" dirty="0"/>
              <a:t>int ptmPin = A0;	//Chân A0 nhận điện từ triết áp</a:t>
            </a:r>
          </a:p>
          <a:p>
            <a:endParaRPr lang="vi-VN" sz="1100" dirty="0"/>
          </a:p>
          <a:p>
            <a:endParaRPr lang="vi-VN" sz="1100" dirty="0"/>
          </a:p>
          <a:p>
            <a:r>
              <a:rPr lang="vi-VN" sz="1100" dirty="0"/>
              <a:t>void setup()</a:t>
            </a:r>
          </a:p>
          <a:p>
            <a:r>
              <a:rPr lang="vi-VN" sz="1100" dirty="0"/>
              <a:t>{</a:t>
            </a:r>
          </a:p>
          <a:p>
            <a:r>
              <a:rPr lang="vi-VN" sz="1100" dirty="0"/>
              <a:t>  pinMode(servoPin, OUTPUT);	//Ta chủ động đẩy điện ra chân này</a:t>
            </a:r>
          </a:p>
          <a:p>
            <a:r>
              <a:rPr lang="vi-VN" sz="1100" dirty="0"/>
              <a:t>  myServo.attach(servoPin);</a:t>
            </a:r>
            <a:r>
              <a:rPr lang="vi-VN" sz="1100"/>
              <a:t>	//</a:t>
            </a:r>
            <a:r>
              <a:rPr lang="vi-VN" sz="1100" dirty="0"/>
              <a:t>Gắn động cơ chơi với chân 9</a:t>
            </a:r>
          </a:p>
          <a:p>
            <a:r>
              <a:rPr lang="vi-VN" sz="1100" dirty="0"/>
              <a:t>}</a:t>
            </a:r>
          </a:p>
          <a:p>
            <a:endParaRPr lang="vi-VN" sz="1100" dirty="0"/>
          </a:p>
          <a:p>
            <a:r>
              <a:rPr lang="vi-VN" sz="1100" dirty="0"/>
              <a:t>void loop()</a:t>
            </a:r>
          </a:p>
          <a:p>
            <a:r>
              <a:rPr lang="vi-VN" sz="1100" dirty="0"/>
              <a:t>{</a:t>
            </a:r>
          </a:p>
          <a:p>
            <a:r>
              <a:rPr lang="vi-VN" sz="1100" dirty="0"/>
              <a:t> 	ptmValue = analogRead(ptmPin);	//Tôi muốn đọc giá trị chân A0</a:t>
            </a:r>
          </a:p>
          <a:p>
            <a:r>
              <a:rPr lang="vi-VN" sz="1100" dirty="0"/>
              <a:t>  									//Giá trị nhận từ 0--&gt;1023</a:t>
            </a:r>
          </a:p>
          <a:p>
            <a:r>
              <a:rPr lang="vi-VN" sz="1100" dirty="0"/>
              <a:t>  //Servo lại chỉ quay từ 0 độ đến 180 độ</a:t>
            </a:r>
          </a:p>
          <a:p>
            <a:r>
              <a:rPr lang="vi-VN" sz="1100" dirty="0"/>
              <a:t>  //ptmValue dựa trên tay vặn cảm biến của ta có biên độ từ 0 --&gt; 1023</a:t>
            </a:r>
          </a:p>
          <a:p>
            <a:r>
              <a:rPr lang="vi-VN" sz="1100" dirty="0"/>
              <a:t>  //Như vậy về lý thuyết ta phải vặn 1 đoạn nào đó thì ứng với 1 độ của Servo</a:t>
            </a:r>
          </a:p>
          <a:p>
            <a:r>
              <a:rPr lang="vi-VN" sz="1100" dirty="0"/>
              <a:t>  //Arduino cung cấp cho mình một hàm toán học map 2 tập giá trị này</a:t>
            </a:r>
          </a:p>
          <a:p>
            <a:r>
              <a:rPr lang="vi-VN" sz="1100" dirty="0"/>
              <a:t>  	int servoPos = map(ptmValue, 0, 1023, 0, 180);</a:t>
            </a:r>
          </a:p>
          <a:p>
            <a:r>
              <a:rPr lang="vi-VN" sz="1100" dirty="0"/>
              <a:t>  //servePos lúc này sẽ nhận giá trị từ 0 --&gt; 180</a:t>
            </a:r>
          </a:p>
          <a:p>
            <a:r>
              <a:rPr lang="vi-VN" sz="1100" dirty="0"/>
              <a:t>  	myServo.write(servoPos);</a:t>
            </a:r>
          </a:p>
          <a:p>
            <a:r>
              <a:rPr lang="vi-VN" sz="1100" dirty="0"/>
              <a:t>  	delay(100);</a:t>
            </a:r>
          </a:p>
          <a:p>
            <a:r>
              <a:rPr lang="vi-VN" sz="1100" dirty="0"/>
              <a:t>}</a:t>
            </a:r>
          </a:p>
          <a:p>
            <a:endParaRPr lang="vi-VN" sz="11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4151B0-292E-AA59-73BF-035EBBDFA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7624" y="1672892"/>
            <a:ext cx="5444376" cy="4410075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A0C9AE0-96FB-057F-69C9-1E4B8D3944B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61246" y="142393"/>
            <a:ext cx="8969189" cy="684553"/>
          </a:xfrm>
        </p:spPr>
        <p:txBody>
          <a:bodyPr/>
          <a:lstStyle/>
          <a:p>
            <a:pPr algn="ctr"/>
            <a:r>
              <a:rPr lang="en-US" sz="2400" b="1" dirty="0"/>
              <a:t>Lab 12: </a:t>
            </a:r>
            <a:r>
              <a:rPr lang="en-US" sz="2400" b="1" dirty="0" err="1"/>
              <a:t>Điều</a:t>
            </a:r>
            <a:r>
              <a:rPr lang="en-US" sz="2400" b="1" dirty="0"/>
              <a:t> </a:t>
            </a:r>
            <a:r>
              <a:rPr lang="en-US" sz="2400" b="1" dirty="0" err="1"/>
              <a:t>khiển</a:t>
            </a:r>
            <a:r>
              <a:rPr lang="en-US" sz="2400" b="1" dirty="0"/>
              <a:t> </a:t>
            </a:r>
            <a:r>
              <a:rPr lang="en-US" sz="2400" b="1" dirty="0" err="1"/>
              <a:t>Động</a:t>
            </a:r>
            <a:r>
              <a:rPr lang="en-US" sz="2400" b="1" dirty="0"/>
              <a:t> </a:t>
            </a:r>
            <a:r>
              <a:rPr lang="en-US" sz="2400" b="1" dirty="0" err="1"/>
              <a:t>cơ</a:t>
            </a:r>
            <a:r>
              <a:rPr lang="en-US" sz="2400" b="1" dirty="0"/>
              <a:t> Servo </a:t>
            </a:r>
            <a:r>
              <a:rPr lang="en-US" sz="2400" b="1" dirty="0" err="1"/>
              <a:t>và</a:t>
            </a:r>
            <a:r>
              <a:rPr lang="en-US" sz="2400" b="1" dirty="0"/>
              <a:t> </a:t>
            </a:r>
            <a:r>
              <a:rPr lang="en-US" sz="2400" b="1" dirty="0" err="1"/>
              <a:t>còi</a:t>
            </a:r>
            <a:r>
              <a:rPr lang="en-US" sz="2400" b="1" dirty="0"/>
              <a:t> </a:t>
            </a:r>
            <a:r>
              <a:rPr lang="en-US" sz="2400" b="1" dirty="0" err="1"/>
              <a:t>cấp</a:t>
            </a:r>
            <a:r>
              <a:rPr lang="en-US" sz="2400" b="1" dirty="0"/>
              <a:t> </a:t>
            </a:r>
            <a:r>
              <a:rPr lang="en-US" sz="2400" b="1" dirty="0" err="1"/>
              <a:t>cứu</a:t>
            </a:r>
            <a:br>
              <a:rPr lang="en-US" sz="2400" b="1" dirty="0"/>
            </a:br>
            <a:r>
              <a:rPr lang="en-US" sz="2400" b="1" dirty="0" err="1"/>
              <a:t>Ứng</a:t>
            </a:r>
            <a:r>
              <a:rPr lang="en-US" sz="2400" b="1" dirty="0"/>
              <a:t> </a:t>
            </a:r>
            <a:r>
              <a:rPr lang="en-US" sz="2400" b="1" dirty="0" err="1"/>
              <a:t>dụng</a:t>
            </a:r>
            <a:r>
              <a:rPr lang="en-US" sz="2400" b="1" dirty="0"/>
              <a:t> </a:t>
            </a:r>
            <a:r>
              <a:rPr lang="en-US" sz="2400" b="1" dirty="0" err="1"/>
              <a:t>triển</a:t>
            </a:r>
            <a:r>
              <a:rPr lang="en-US" sz="2400" b="1" dirty="0"/>
              <a:t> </a:t>
            </a:r>
            <a:r>
              <a:rPr lang="en-US" sz="2400" b="1" dirty="0" err="1"/>
              <a:t>khai</a:t>
            </a:r>
            <a:r>
              <a:rPr lang="en-US" sz="2400" b="1" dirty="0"/>
              <a:t> </a:t>
            </a:r>
            <a:r>
              <a:rPr lang="en-US" sz="2400" b="1" dirty="0" err="1"/>
              <a:t>bãi</a:t>
            </a:r>
            <a:r>
              <a:rPr lang="en-US" sz="2400" b="1" dirty="0"/>
              <a:t> </a:t>
            </a:r>
            <a:r>
              <a:rPr lang="en-US" sz="2400" b="1" dirty="0" err="1"/>
              <a:t>giữ</a:t>
            </a:r>
            <a:r>
              <a:rPr lang="en-US" sz="2400" b="1" dirty="0"/>
              <a:t> </a:t>
            </a:r>
            <a:r>
              <a:rPr lang="en-US" sz="2400" b="1" dirty="0" err="1"/>
              <a:t>xe</a:t>
            </a:r>
            <a:r>
              <a:rPr lang="en-US" sz="2400" b="1" dirty="0"/>
              <a:t> </a:t>
            </a:r>
            <a:r>
              <a:rPr lang="en-US" sz="2400" b="1" dirty="0" err="1"/>
              <a:t>thông</a:t>
            </a:r>
            <a:r>
              <a:rPr lang="en-US" sz="2400" b="1" dirty="0"/>
              <a:t> </a:t>
            </a:r>
            <a:r>
              <a:rPr lang="en-US" sz="2400" b="1" dirty="0" err="1"/>
              <a:t>minh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600009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0317" y="1594780"/>
            <a:ext cx="8440271" cy="41740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i="1" dirty="0">
                <a:solidFill>
                  <a:srgbClr val="002060"/>
                </a:solidFill>
              </a:rPr>
              <a:t>4. </a:t>
            </a:r>
            <a:r>
              <a:rPr lang="en-US" sz="2400" i="1" dirty="0" err="1">
                <a:solidFill>
                  <a:srgbClr val="002060"/>
                </a:solidFill>
              </a:rPr>
              <a:t>Bài</a:t>
            </a:r>
            <a:r>
              <a:rPr lang="en-US" sz="2400" i="1" dirty="0">
                <a:solidFill>
                  <a:srgbClr val="002060"/>
                </a:solidFill>
              </a:rPr>
              <a:t> </a:t>
            </a:r>
            <a:r>
              <a:rPr lang="en-US" sz="2400" i="1" dirty="0" err="1">
                <a:solidFill>
                  <a:srgbClr val="002060"/>
                </a:solidFill>
              </a:rPr>
              <a:t>tập</a:t>
            </a:r>
            <a:r>
              <a:rPr lang="en-US" sz="2400" i="1" dirty="0">
                <a:solidFill>
                  <a:srgbClr val="002060"/>
                </a:solidFill>
              </a:rPr>
              <a:t> </a:t>
            </a:r>
            <a:r>
              <a:rPr lang="en-US" sz="2400" i="1" dirty="0" err="1">
                <a:solidFill>
                  <a:srgbClr val="002060"/>
                </a:solidFill>
              </a:rPr>
              <a:t>động</a:t>
            </a:r>
            <a:r>
              <a:rPr lang="en-US" sz="2400" i="1" dirty="0">
                <a:solidFill>
                  <a:srgbClr val="002060"/>
                </a:solidFill>
              </a:rPr>
              <a:t> </a:t>
            </a:r>
            <a:r>
              <a:rPr lang="en-US" sz="2400" i="1" dirty="0" err="1">
                <a:solidFill>
                  <a:srgbClr val="002060"/>
                </a:solidFill>
              </a:rPr>
              <a:t>cơ</a:t>
            </a:r>
            <a:r>
              <a:rPr lang="en-US" sz="2400" i="1" dirty="0">
                <a:solidFill>
                  <a:srgbClr val="002060"/>
                </a:solidFill>
              </a:rPr>
              <a:t> Servo: </a:t>
            </a:r>
          </a:p>
          <a:p>
            <a:pPr marL="0" indent="0">
              <a:buNone/>
            </a:pPr>
            <a:r>
              <a:rPr lang="en-US" sz="2400" b="0" dirty="0" err="1">
                <a:solidFill>
                  <a:srgbClr val="002060"/>
                </a:solidFill>
              </a:rPr>
              <a:t>Điều</a:t>
            </a:r>
            <a:r>
              <a:rPr lang="en-US" sz="2400" b="0" dirty="0">
                <a:solidFill>
                  <a:srgbClr val="002060"/>
                </a:solidFill>
              </a:rPr>
              <a:t> </a:t>
            </a:r>
            <a:r>
              <a:rPr lang="en-US" sz="2400" b="0" dirty="0" err="1">
                <a:solidFill>
                  <a:srgbClr val="002060"/>
                </a:solidFill>
              </a:rPr>
              <a:t>khiển</a:t>
            </a:r>
            <a:r>
              <a:rPr lang="en-US" sz="2400" b="0" dirty="0">
                <a:solidFill>
                  <a:srgbClr val="002060"/>
                </a:solidFill>
              </a:rPr>
              <a:t> </a:t>
            </a:r>
            <a:r>
              <a:rPr lang="en-US" sz="2400" b="0" dirty="0" err="1">
                <a:solidFill>
                  <a:srgbClr val="002060"/>
                </a:solidFill>
              </a:rPr>
              <a:t>động</a:t>
            </a:r>
            <a:r>
              <a:rPr lang="en-US" sz="2400" b="0" dirty="0">
                <a:solidFill>
                  <a:srgbClr val="002060"/>
                </a:solidFill>
              </a:rPr>
              <a:t> </a:t>
            </a:r>
            <a:r>
              <a:rPr lang="en-US" sz="2400" b="0" dirty="0" err="1">
                <a:solidFill>
                  <a:srgbClr val="002060"/>
                </a:solidFill>
              </a:rPr>
              <a:t>cơ</a:t>
            </a:r>
            <a:r>
              <a:rPr lang="en-US" sz="2400" b="0" dirty="0">
                <a:solidFill>
                  <a:srgbClr val="002060"/>
                </a:solidFill>
              </a:rPr>
              <a:t> Servo quay </a:t>
            </a:r>
            <a:r>
              <a:rPr lang="en-US" sz="2400" b="0" dirty="0" err="1">
                <a:solidFill>
                  <a:srgbClr val="002060"/>
                </a:solidFill>
              </a:rPr>
              <a:t>liên</a:t>
            </a:r>
            <a:r>
              <a:rPr lang="en-US" sz="2400" b="0" dirty="0">
                <a:solidFill>
                  <a:srgbClr val="002060"/>
                </a:solidFill>
              </a:rPr>
              <a:t> </a:t>
            </a:r>
            <a:r>
              <a:rPr lang="en-US" sz="2400" b="0" dirty="0" err="1">
                <a:solidFill>
                  <a:srgbClr val="002060"/>
                </a:solidFill>
              </a:rPr>
              <a:t>tục</a:t>
            </a:r>
            <a:r>
              <a:rPr lang="en-US" sz="2400" b="0" dirty="0">
                <a:solidFill>
                  <a:srgbClr val="002060"/>
                </a:solidFill>
              </a:rPr>
              <a:t> </a:t>
            </a:r>
            <a:r>
              <a:rPr lang="en-US" sz="2400" b="0" dirty="0" err="1">
                <a:solidFill>
                  <a:srgbClr val="002060"/>
                </a:solidFill>
              </a:rPr>
              <a:t>theo</a:t>
            </a:r>
            <a:r>
              <a:rPr lang="en-US" sz="2400" b="0" dirty="0">
                <a:solidFill>
                  <a:srgbClr val="002060"/>
                </a:solidFill>
              </a:rPr>
              <a:t> </a:t>
            </a:r>
            <a:r>
              <a:rPr lang="en-US" sz="2400" b="0" dirty="0" err="1">
                <a:solidFill>
                  <a:srgbClr val="002060"/>
                </a:solidFill>
              </a:rPr>
              <a:t>một</a:t>
            </a:r>
            <a:r>
              <a:rPr lang="en-US" sz="2400" b="0" dirty="0">
                <a:solidFill>
                  <a:srgbClr val="002060"/>
                </a:solidFill>
              </a:rPr>
              <a:t> </a:t>
            </a:r>
            <a:r>
              <a:rPr lang="en-US" sz="2400" b="0" dirty="0" err="1">
                <a:solidFill>
                  <a:srgbClr val="002060"/>
                </a:solidFill>
              </a:rPr>
              <a:t>góc</a:t>
            </a:r>
            <a:r>
              <a:rPr lang="en-US" sz="2400" b="0" dirty="0">
                <a:solidFill>
                  <a:srgbClr val="002060"/>
                </a:solidFill>
              </a:rPr>
              <a:t> </a:t>
            </a:r>
            <a:r>
              <a:rPr lang="en-US" sz="2400" b="0" dirty="0" err="1">
                <a:solidFill>
                  <a:srgbClr val="002060"/>
                </a:solidFill>
              </a:rPr>
              <a:t>bất</a:t>
            </a:r>
            <a:r>
              <a:rPr lang="en-US" sz="2400" b="0" dirty="0">
                <a:solidFill>
                  <a:srgbClr val="002060"/>
                </a:solidFill>
              </a:rPr>
              <a:t> </a:t>
            </a:r>
            <a:r>
              <a:rPr lang="en-US" sz="2400" b="0" dirty="0" err="1">
                <a:solidFill>
                  <a:srgbClr val="002060"/>
                </a:solidFill>
              </a:rPr>
              <a:t>kỳ</a:t>
            </a:r>
            <a:r>
              <a:rPr lang="en-US" sz="2400" b="0" dirty="0">
                <a:solidFill>
                  <a:srgbClr val="002060"/>
                </a:solidFill>
              </a:rPr>
              <a:t> </a:t>
            </a:r>
            <a:r>
              <a:rPr lang="en-US" sz="2400" b="0" dirty="0" err="1">
                <a:solidFill>
                  <a:srgbClr val="002060"/>
                </a:solidFill>
              </a:rPr>
              <a:t>khi</a:t>
            </a:r>
            <a:r>
              <a:rPr lang="en-US" sz="2400" b="0" dirty="0">
                <a:solidFill>
                  <a:srgbClr val="002060"/>
                </a:solidFill>
              </a:rPr>
              <a:t> </a:t>
            </a:r>
            <a:r>
              <a:rPr lang="en-US" sz="2400" b="0" dirty="0" err="1">
                <a:solidFill>
                  <a:srgbClr val="002060"/>
                </a:solidFill>
              </a:rPr>
              <a:t>vặn</a:t>
            </a:r>
            <a:r>
              <a:rPr lang="en-US" sz="2400" b="0" dirty="0">
                <a:solidFill>
                  <a:srgbClr val="002060"/>
                </a:solidFill>
              </a:rPr>
              <a:t> </a:t>
            </a:r>
            <a:r>
              <a:rPr lang="en-US" sz="2400" b="0" dirty="0" err="1">
                <a:solidFill>
                  <a:srgbClr val="002060"/>
                </a:solidFill>
              </a:rPr>
              <a:t>biến</a:t>
            </a:r>
            <a:r>
              <a:rPr lang="en-US" sz="2400" b="0" dirty="0">
                <a:solidFill>
                  <a:srgbClr val="002060"/>
                </a:solidFill>
              </a:rPr>
              <a:t> </a:t>
            </a:r>
            <a:r>
              <a:rPr lang="en-US" sz="2400" b="0" dirty="0" err="1">
                <a:solidFill>
                  <a:srgbClr val="002060"/>
                </a:solidFill>
              </a:rPr>
              <a:t>áp</a:t>
            </a:r>
            <a:endParaRPr lang="en-US" sz="2400" b="0" dirty="0">
              <a:solidFill>
                <a:srgbClr val="00206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BC5F3-20C3-46D3-932D-BAE27B3FCC69}" type="slidenum">
              <a:rPr lang="en-US" sz="2400" smtClean="0"/>
              <a:pPr/>
              <a:t>8</a:t>
            </a:fld>
            <a:endParaRPr lang="en-US" sz="240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BDA934-C267-437E-BDCB-F138B36C399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61246" y="142393"/>
            <a:ext cx="8969189" cy="684553"/>
          </a:xfrm>
        </p:spPr>
        <p:txBody>
          <a:bodyPr/>
          <a:lstStyle/>
          <a:p>
            <a:pPr algn="ctr"/>
            <a:r>
              <a:rPr lang="en-US" sz="2400" b="1" dirty="0"/>
              <a:t>Lab 12: </a:t>
            </a:r>
            <a:r>
              <a:rPr lang="en-US" sz="2400" b="1" dirty="0" err="1"/>
              <a:t>Điều</a:t>
            </a:r>
            <a:r>
              <a:rPr lang="en-US" sz="2400" b="1" dirty="0"/>
              <a:t> </a:t>
            </a:r>
            <a:r>
              <a:rPr lang="en-US" sz="2400" b="1" dirty="0" err="1"/>
              <a:t>khiển</a:t>
            </a:r>
            <a:r>
              <a:rPr lang="en-US" sz="2400" b="1" dirty="0"/>
              <a:t> </a:t>
            </a:r>
            <a:r>
              <a:rPr lang="en-US" sz="2400" b="1" dirty="0" err="1"/>
              <a:t>Động</a:t>
            </a:r>
            <a:r>
              <a:rPr lang="en-US" sz="2400" b="1" dirty="0"/>
              <a:t> </a:t>
            </a:r>
            <a:r>
              <a:rPr lang="en-US" sz="2400" b="1" dirty="0" err="1"/>
              <a:t>cơ</a:t>
            </a:r>
            <a:r>
              <a:rPr lang="en-US" sz="2400" b="1" dirty="0"/>
              <a:t> Servo </a:t>
            </a:r>
            <a:r>
              <a:rPr lang="en-US" sz="2400" b="1" dirty="0" err="1"/>
              <a:t>và</a:t>
            </a:r>
            <a:r>
              <a:rPr lang="en-US" sz="2400" b="1" dirty="0"/>
              <a:t> </a:t>
            </a:r>
            <a:r>
              <a:rPr lang="en-US" sz="2400" b="1" dirty="0" err="1"/>
              <a:t>còi</a:t>
            </a:r>
            <a:r>
              <a:rPr lang="en-US" sz="2400" b="1" dirty="0"/>
              <a:t> </a:t>
            </a:r>
            <a:r>
              <a:rPr lang="en-US" sz="2400" b="1" dirty="0" err="1"/>
              <a:t>cấp</a:t>
            </a:r>
            <a:r>
              <a:rPr lang="en-US" sz="2400" b="1" dirty="0"/>
              <a:t> </a:t>
            </a:r>
            <a:r>
              <a:rPr lang="en-US" sz="2400" b="1" dirty="0" err="1"/>
              <a:t>cứu</a:t>
            </a:r>
            <a:br>
              <a:rPr lang="en-US" sz="2400" b="1" dirty="0"/>
            </a:br>
            <a:r>
              <a:rPr lang="en-US" sz="2400" b="1" dirty="0" err="1"/>
              <a:t>Ứng</a:t>
            </a:r>
            <a:r>
              <a:rPr lang="en-US" sz="2400" b="1" dirty="0"/>
              <a:t> </a:t>
            </a:r>
            <a:r>
              <a:rPr lang="en-US" sz="2400" b="1" dirty="0" err="1"/>
              <a:t>dụng</a:t>
            </a:r>
            <a:r>
              <a:rPr lang="en-US" sz="2400" b="1" dirty="0"/>
              <a:t> </a:t>
            </a:r>
            <a:r>
              <a:rPr lang="en-US" sz="2400" b="1" dirty="0" err="1"/>
              <a:t>triển</a:t>
            </a:r>
            <a:r>
              <a:rPr lang="en-US" sz="2400" b="1" dirty="0"/>
              <a:t> </a:t>
            </a:r>
            <a:r>
              <a:rPr lang="en-US" sz="2400" b="1" dirty="0" err="1"/>
              <a:t>khai</a:t>
            </a:r>
            <a:r>
              <a:rPr lang="en-US" sz="2400" b="1" dirty="0"/>
              <a:t> </a:t>
            </a:r>
            <a:r>
              <a:rPr lang="en-US" sz="2400" b="1" dirty="0" err="1"/>
              <a:t>bãi</a:t>
            </a:r>
            <a:r>
              <a:rPr lang="en-US" sz="2400" b="1" dirty="0"/>
              <a:t> </a:t>
            </a:r>
            <a:r>
              <a:rPr lang="en-US" sz="2400" b="1" dirty="0" err="1"/>
              <a:t>giữ</a:t>
            </a:r>
            <a:r>
              <a:rPr lang="en-US" sz="2400" b="1" dirty="0"/>
              <a:t> </a:t>
            </a:r>
            <a:r>
              <a:rPr lang="en-US" sz="2400" b="1" dirty="0" err="1"/>
              <a:t>xe</a:t>
            </a:r>
            <a:r>
              <a:rPr lang="en-US" sz="2400" b="1" dirty="0"/>
              <a:t> </a:t>
            </a:r>
            <a:r>
              <a:rPr lang="en-US" sz="2400" b="1" dirty="0" err="1"/>
              <a:t>thông</a:t>
            </a:r>
            <a:r>
              <a:rPr lang="en-US" sz="2400" b="1" dirty="0"/>
              <a:t> </a:t>
            </a:r>
            <a:r>
              <a:rPr lang="en-US" sz="2400" b="1" dirty="0" err="1"/>
              <a:t>minh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652659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39969" y="1073510"/>
            <a:ext cx="8310283" cy="6570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>
                <a:solidFill>
                  <a:srgbClr val="002060"/>
                </a:solidFill>
              </a:rPr>
              <a:t>5. </a:t>
            </a:r>
            <a:r>
              <a:rPr lang="vi-VN" i="1" dirty="0">
                <a:solidFill>
                  <a:srgbClr val="002060"/>
                </a:solidFill>
              </a:rPr>
              <a:t>Sơ đồ lắp ráp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điều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khiển</a:t>
            </a:r>
            <a:r>
              <a:rPr lang="en-US" i="1" dirty="0">
                <a:solidFill>
                  <a:srgbClr val="002060"/>
                </a:solidFill>
              </a:rPr>
              <a:t> loa </a:t>
            </a:r>
            <a:r>
              <a:rPr lang="en-US" i="1" dirty="0" err="1">
                <a:solidFill>
                  <a:srgbClr val="002060"/>
                </a:solidFill>
              </a:rPr>
              <a:t>cấp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cứu</a:t>
            </a:r>
            <a:endParaRPr lang="en-US" b="1" i="1" dirty="0">
              <a:solidFill>
                <a:srgbClr val="00206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BC5F3-20C3-46D3-932D-BAE27B3FCC69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30602D-81EE-52B6-1E87-1AD42C54D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196" y="2422165"/>
            <a:ext cx="6943725" cy="3362325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1B3D8E1-323B-007B-3458-45BD2318398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61246" y="142393"/>
            <a:ext cx="8969189" cy="684553"/>
          </a:xfrm>
        </p:spPr>
        <p:txBody>
          <a:bodyPr/>
          <a:lstStyle/>
          <a:p>
            <a:pPr algn="ctr"/>
            <a:r>
              <a:rPr lang="en-US" sz="2400" b="1" dirty="0"/>
              <a:t>Lab 12: </a:t>
            </a:r>
            <a:r>
              <a:rPr lang="en-US" sz="2400" b="1" dirty="0" err="1"/>
              <a:t>Điều</a:t>
            </a:r>
            <a:r>
              <a:rPr lang="en-US" sz="2400" b="1" dirty="0"/>
              <a:t> </a:t>
            </a:r>
            <a:r>
              <a:rPr lang="en-US" sz="2400" b="1" dirty="0" err="1"/>
              <a:t>khiển</a:t>
            </a:r>
            <a:r>
              <a:rPr lang="en-US" sz="2400" b="1" dirty="0"/>
              <a:t> </a:t>
            </a:r>
            <a:r>
              <a:rPr lang="en-US" sz="2400" b="1" dirty="0" err="1"/>
              <a:t>Động</a:t>
            </a:r>
            <a:r>
              <a:rPr lang="en-US" sz="2400" b="1" dirty="0"/>
              <a:t> </a:t>
            </a:r>
            <a:r>
              <a:rPr lang="en-US" sz="2400" b="1" dirty="0" err="1"/>
              <a:t>cơ</a:t>
            </a:r>
            <a:r>
              <a:rPr lang="en-US" sz="2400" b="1" dirty="0"/>
              <a:t> Servo </a:t>
            </a:r>
            <a:r>
              <a:rPr lang="en-US" sz="2400" b="1" dirty="0" err="1"/>
              <a:t>và</a:t>
            </a:r>
            <a:r>
              <a:rPr lang="en-US" sz="2400" b="1" dirty="0"/>
              <a:t> </a:t>
            </a:r>
            <a:r>
              <a:rPr lang="en-US" sz="2400" b="1" dirty="0" err="1"/>
              <a:t>còi</a:t>
            </a:r>
            <a:r>
              <a:rPr lang="en-US" sz="2400" b="1" dirty="0"/>
              <a:t> </a:t>
            </a:r>
            <a:r>
              <a:rPr lang="en-US" sz="2400" b="1" dirty="0" err="1"/>
              <a:t>cấp</a:t>
            </a:r>
            <a:r>
              <a:rPr lang="en-US" sz="2400" b="1" dirty="0"/>
              <a:t> </a:t>
            </a:r>
            <a:r>
              <a:rPr lang="en-US" sz="2400" b="1" dirty="0" err="1"/>
              <a:t>cứu</a:t>
            </a:r>
            <a:br>
              <a:rPr lang="en-US" sz="2400" b="1" dirty="0"/>
            </a:br>
            <a:r>
              <a:rPr lang="en-US" sz="2400" b="1" dirty="0" err="1"/>
              <a:t>Ứng</a:t>
            </a:r>
            <a:r>
              <a:rPr lang="en-US" sz="2400" b="1" dirty="0"/>
              <a:t> </a:t>
            </a:r>
            <a:r>
              <a:rPr lang="en-US" sz="2400" b="1" dirty="0" err="1"/>
              <a:t>dụng</a:t>
            </a:r>
            <a:r>
              <a:rPr lang="en-US" sz="2400" b="1" dirty="0"/>
              <a:t> </a:t>
            </a:r>
            <a:r>
              <a:rPr lang="en-US" sz="2400" b="1" dirty="0" err="1"/>
              <a:t>triển</a:t>
            </a:r>
            <a:r>
              <a:rPr lang="en-US" sz="2400" b="1" dirty="0"/>
              <a:t> </a:t>
            </a:r>
            <a:r>
              <a:rPr lang="en-US" sz="2400" b="1" dirty="0" err="1"/>
              <a:t>khai</a:t>
            </a:r>
            <a:r>
              <a:rPr lang="en-US" sz="2400" b="1" dirty="0"/>
              <a:t> </a:t>
            </a:r>
            <a:r>
              <a:rPr lang="en-US" sz="2400" b="1" dirty="0" err="1"/>
              <a:t>bãi</a:t>
            </a:r>
            <a:r>
              <a:rPr lang="en-US" sz="2400" b="1" dirty="0"/>
              <a:t> </a:t>
            </a:r>
            <a:r>
              <a:rPr lang="en-US" sz="2400" b="1" dirty="0" err="1"/>
              <a:t>giữ</a:t>
            </a:r>
            <a:r>
              <a:rPr lang="en-US" sz="2400" b="1" dirty="0"/>
              <a:t> </a:t>
            </a:r>
            <a:r>
              <a:rPr lang="en-US" sz="2400" b="1" dirty="0" err="1"/>
              <a:t>xe</a:t>
            </a:r>
            <a:r>
              <a:rPr lang="en-US" sz="2400" b="1" dirty="0"/>
              <a:t> </a:t>
            </a:r>
            <a:r>
              <a:rPr lang="en-US" sz="2400" b="1" dirty="0" err="1"/>
              <a:t>thông</a:t>
            </a:r>
            <a:r>
              <a:rPr lang="en-US" sz="2400" b="1" dirty="0"/>
              <a:t> </a:t>
            </a:r>
            <a:r>
              <a:rPr lang="en-US" sz="2400" b="1" dirty="0" err="1"/>
              <a:t>minh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642814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0317" y="895533"/>
            <a:ext cx="8310283" cy="657075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i="1" dirty="0">
                <a:solidFill>
                  <a:srgbClr val="002060"/>
                </a:solidFill>
              </a:rPr>
              <a:t>6. </a:t>
            </a:r>
            <a:r>
              <a:rPr lang="en-US" i="1" dirty="0" err="1">
                <a:solidFill>
                  <a:srgbClr val="002060"/>
                </a:solidFill>
              </a:rPr>
              <a:t>Ví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dụ</a:t>
            </a:r>
            <a:r>
              <a:rPr lang="en-US" i="1" dirty="0">
                <a:solidFill>
                  <a:srgbClr val="002060"/>
                </a:solidFill>
              </a:rPr>
              <a:t> 4: </a:t>
            </a:r>
            <a:r>
              <a:rPr lang="en-US" i="1" dirty="0" err="1">
                <a:solidFill>
                  <a:srgbClr val="002060"/>
                </a:solidFill>
              </a:rPr>
              <a:t>Điều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khiển</a:t>
            </a:r>
            <a:r>
              <a:rPr lang="en-US" i="1" dirty="0">
                <a:solidFill>
                  <a:srgbClr val="002060"/>
                </a:solidFill>
              </a:rPr>
              <a:t> loa </a:t>
            </a:r>
            <a:r>
              <a:rPr lang="en-US" i="1" dirty="0" err="1">
                <a:solidFill>
                  <a:srgbClr val="002060"/>
                </a:solidFill>
              </a:rPr>
              <a:t>kêu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tín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hiệu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cấp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cứu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tín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hiệu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sống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trong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phòng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cấp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cứu</a:t>
            </a:r>
            <a:endParaRPr lang="en-US" b="1" i="1" dirty="0">
              <a:solidFill>
                <a:srgbClr val="00206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BC5F3-20C3-46D3-932D-BAE27B3FCC69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718B3C-8D46-F59B-7588-FC5A3042CA5C}"/>
              </a:ext>
            </a:extLst>
          </p:cNvPr>
          <p:cNvSpPr txBox="1"/>
          <p:nvPr/>
        </p:nvSpPr>
        <p:spPr>
          <a:xfrm>
            <a:off x="528919" y="1421303"/>
            <a:ext cx="626184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400" dirty="0"/>
              <a:t>int soundPin = 7;	//chân nhận âm thanh</a:t>
            </a:r>
          </a:p>
          <a:p>
            <a:r>
              <a:rPr lang="vi-VN" sz="1400" dirty="0"/>
              <a:t>float sinValue;</a:t>
            </a:r>
          </a:p>
          <a:p>
            <a:r>
              <a:rPr lang="vi-VN" sz="1400" dirty="0"/>
              <a:t>int toneValue;</a:t>
            </a:r>
          </a:p>
          <a:p>
            <a:endParaRPr lang="vi-VN" sz="1400" dirty="0"/>
          </a:p>
          <a:p>
            <a:r>
              <a:rPr lang="vi-VN" sz="1400" dirty="0"/>
              <a:t>void setup()</a:t>
            </a:r>
          </a:p>
          <a:p>
            <a:r>
              <a:rPr lang="vi-VN" sz="1400" dirty="0"/>
              <a:t>{</a:t>
            </a:r>
          </a:p>
          <a:p>
            <a:r>
              <a:rPr lang="vi-VN" sz="1400" dirty="0"/>
              <a:t>  pinMode(soundPin, OUTPUT);</a:t>
            </a:r>
          </a:p>
          <a:p>
            <a:r>
              <a:rPr lang="vi-VN" sz="1400" dirty="0"/>
              <a:t>}</a:t>
            </a:r>
          </a:p>
          <a:p>
            <a:endParaRPr lang="vi-VN" sz="1400" dirty="0"/>
          </a:p>
          <a:p>
            <a:r>
              <a:rPr lang="vi-VN" sz="1400" dirty="0"/>
              <a:t>void loop()</a:t>
            </a:r>
          </a:p>
          <a:p>
            <a:r>
              <a:rPr lang="vi-VN" sz="1400" dirty="0"/>
              <a:t>{</a:t>
            </a:r>
          </a:p>
          <a:p>
            <a:r>
              <a:rPr lang="vi-VN" sz="1400" dirty="0"/>
              <a:t>  </a:t>
            </a:r>
          </a:p>
          <a:p>
            <a:r>
              <a:rPr lang="vi-VN" sz="1400" dirty="0"/>
              <a:t>  //Cấp cứu 1 - Tín hiệu sống trong phòng cấp cứu</a:t>
            </a:r>
          </a:p>
          <a:p>
            <a:r>
              <a:rPr lang="vi-VN" sz="1400" dirty="0"/>
              <a:t>  //tone(soundPin, 2500, 50);	//Phát tiếng tit ra loa - cao độ 2500 - trường độ 50</a:t>
            </a:r>
          </a:p>
          <a:p>
            <a:r>
              <a:rPr lang="vi-VN" sz="1400" dirty="0"/>
              <a:t>  delay(1000);</a:t>
            </a:r>
          </a:p>
          <a:p>
            <a:r>
              <a:rPr lang="vi-VN" sz="1400" dirty="0"/>
              <a:t>  </a:t>
            </a:r>
          </a:p>
          <a:p>
            <a:r>
              <a:rPr lang="vi-VN" sz="1400" dirty="0"/>
              <a:t>  }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D72F10-05E7-5D47-0F4F-D1F7DEF860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5576" y="2437282"/>
            <a:ext cx="5226424" cy="3362325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ACBCB4D-9CD0-7DEF-DBB8-611C25FA6CE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61246" y="142393"/>
            <a:ext cx="8969189" cy="684553"/>
          </a:xfrm>
        </p:spPr>
        <p:txBody>
          <a:bodyPr/>
          <a:lstStyle/>
          <a:p>
            <a:pPr algn="ctr"/>
            <a:r>
              <a:rPr lang="en-US" sz="2400" b="1" dirty="0"/>
              <a:t>Lab 12: </a:t>
            </a:r>
            <a:r>
              <a:rPr lang="en-US" sz="2400" b="1" dirty="0" err="1"/>
              <a:t>Điều</a:t>
            </a:r>
            <a:r>
              <a:rPr lang="en-US" sz="2400" b="1" dirty="0"/>
              <a:t> </a:t>
            </a:r>
            <a:r>
              <a:rPr lang="en-US" sz="2400" b="1" dirty="0" err="1"/>
              <a:t>khiển</a:t>
            </a:r>
            <a:r>
              <a:rPr lang="en-US" sz="2400" b="1" dirty="0"/>
              <a:t> </a:t>
            </a:r>
            <a:r>
              <a:rPr lang="en-US" sz="2400" b="1" dirty="0" err="1"/>
              <a:t>Động</a:t>
            </a:r>
            <a:r>
              <a:rPr lang="en-US" sz="2400" b="1" dirty="0"/>
              <a:t> </a:t>
            </a:r>
            <a:r>
              <a:rPr lang="en-US" sz="2400" b="1" dirty="0" err="1"/>
              <a:t>cơ</a:t>
            </a:r>
            <a:r>
              <a:rPr lang="en-US" sz="2400" b="1" dirty="0"/>
              <a:t> Servo </a:t>
            </a:r>
            <a:r>
              <a:rPr lang="en-US" sz="2400" b="1" dirty="0" err="1"/>
              <a:t>và</a:t>
            </a:r>
            <a:r>
              <a:rPr lang="en-US" sz="2400" b="1" dirty="0"/>
              <a:t> </a:t>
            </a:r>
            <a:r>
              <a:rPr lang="en-US" sz="2400" b="1" dirty="0" err="1"/>
              <a:t>còi</a:t>
            </a:r>
            <a:r>
              <a:rPr lang="en-US" sz="2400" b="1" dirty="0"/>
              <a:t> </a:t>
            </a:r>
            <a:r>
              <a:rPr lang="en-US" sz="2400" b="1" dirty="0" err="1"/>
              <a:t>cấp</a:t>
            </a:r>
            <a:r>
              <a:rPr lang="en-US" sz="2400" b="1" dirty="0"/>
              <a:t> </a:t>
            </a:r>
            <a:r>
              <a:rPr lang="en-US" sz="2400" b="1" dirty="0" err="1"/>
              <a:t>cứu</a:t>
            </a:r>
            <a:br>
              <a:rPr lang="en-US" sz="2400" b="1" dirty="0"/>
            </a:br>
            <a:r>
              <a:rPr lang="en-US" sz="2400" b="1" dirty="0" err="1"/>
              <a:t>Ứng</a:t>
            </a:r>
            <a:r>
              <a:rPr lang="en-US" sz="2400" b="1" dirty="0"/>
              <a:t> </a:t>
            </a:r>
            <a:r>
              <a:rPr lang="en-US" sz="2400" b="1" dirty="0" err="1"/>
              <a:t>dụng</a:t>
            </a:r>
            <a:r>
              <a:rPr lang="en-US" sz="2400" b="1" dirty="0"/>
              <a:t> </a:t>
            </a:r>
            <a:r>
              <a:rPr lang="en-US" sz="2400" b="1" dirty="0" err="1"/>
              <a:t>triển</a:t>
            </a:r>
            <a:r>
              <a:rPr lang="en-US" sz="2400" b="1" dirty="0"/>
              <a:t> </a:t>
            </a:r>
            <a:r>
              <a:rPr lang="en-US" sz="2400" b="1" dirty="0" err="1"/>
              <a:t>khai</a:t>
            </a:r>
            <a:r>
              <a:rPr lang="en-US" sz="2400" b="1" dirty="0"/>
              <a:t> </a:t>
            </a:r>
            <a:r>
              <a:rPr lang="en-US" sz="2400" b="1" dirty="0" err="1"/>
              <a:t>bãi</a:t>
            </a:r>
            <a:r>
              <a:rPr lang="en-US" sz="2400" b="1" dirty="0"/>
              <a:t> </a:t>
            </a:r>
            <a:r>
              <a:rPr lang="en-US" sz="2400" b="1" dirty="0" err="1"/>
              <a:t>giữ</a:t>
            </a:r>
            <a:r>
              <a:rPr lang="en-US" sz="2400" b="1" dirty="0"/>
              <a:t> </a:t>
            </a:r>
            <a:r>
              <a:rPr lang="en-US" sz="2400" b="1" dirty="0" err="1"/>
              <a:t>xe</a:t>
            </a:r>
            <a:r>
              <a:rPr lang="en-US" sz="2400" b="1" dirty="0"/>
              <a:t> </a:t>
            </a:r>
            <a:r>
              <a:rPr lang="en-US" sz="2400" b="1" dirty="0" err="1"/>
              <a:t>thông</a:t>
            </a:r>
            <a:r>
              <a:rPr lang="en-US" sz="2400" b="1" dirty="0"/>
              <a:t> </a:t>
            </a:r>
            <a:r>
              <a:rPr lang="en-US" sz="2400" b="1" dirty="0" err="1"/>
              <a:t>minh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200644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0317" y="895533"/>
            <a:ext cx="8310283" cy="65707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i="1" dirty="0">
                <a:solidFill>
                  <a:srgbClr val="002060"/>
                </a:solidFill>
              </a:rPr>
              <a:t>6. </a:t>
            </a:r>
            <a:r>
              <a:rPr lang="en-US" i="1" dirty="0" err="1">
                <a:solidFill>
                  <a:srgbClr val="002060"/>
                </a:solidFill>
              </a:rPr>
              <a:t>Ví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dụ</a:t>
            </a:r>
            <a:r>
              <a:rPr lang="en-US" i="1" dirty="0">
                <a:solidFill>
                  <a:srgbClr val="002060"/>
                </a:solidFill>
              </a:rPr>
              <a:t> 5: </a:t>
            </a:r>
            <a:r>
              <a:rPr lang="en-US" i="1" dirty="0" err="1">
                <a:solidFill>
                  <a:srgbClr val="002060"/>
                </a:solidFill>
              </a:rPr>
              <a:t>Điều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khiển</a:t>
            </a:r>
            <a:r>
              <a:rPr lang="en-US" i="1" dirty="0">
                <a:solidFill>
                  <a:srgbClr val="002060"/>
                </a:solidFill>
              </a:rPr>
              <a:t> loa </a:t>
            </a:r>
            <a:r>
              <a:rPr lang="en-US" i="1" dirty="0" err="1">
                <a:solidFill>
                  <a:srgbClr val="002060"/>
                </a:solidFill>
              </a:rPr>
              <a:t>kêu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tín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hiệu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xe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cấp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cứu</a:t>
            </a:r>
            <a:endParaRPr lang="en-US" b="1" i="1" dirty="0">
              <a:solidFill>
                <a:srgbClr val="00206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BC5F3-20C3-46D3-932D-BAE27B3FCC69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718B3C-8D46-F59B-7588-FC5A3042CA5C}"/>
              </a:ext>
            </a:extLst>
          </p:cNvPr>
          <p:cNvSpPr txBox="1"/>
          <p:nvPr/>
        </p:nvSpPr>
        <p:spPr>
          <a:xfrm>
            <a:off x="475130" y="1271511"/>
            <a:ext cx="729727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400" dirty="0"/>
              <a:t>int soundPin = 7;	//chân nhận âm thanh</a:t>
            </a:r>
          </a:p>
          <a:p>
            <a:r>
              <a:rPr lang="vi-VN" sz="1400" dirty="0"/>
              <a:t>float sinValue;</a:t>
            </a:r>
          </a:p>
          <a:p>
            <a:r>
              <a:rPr lang="vi-VN" sz="1400" dirty="0"/>
              <a:t>int toneValue;</a:t>
            </a:r>
          </a:p>
          <a:p>
            <a:r>
              <a:rPr lang="vi-VN" sz="1400" dirty="0"/>
              <a:t>void setup()</a:t>
            </a:r>
          </a:p>
          <a:p>
            <a:r>
              <a:rPr lang="vi-VN" sz="1400" dirty="0"/>
              <a:t>{</a:t>
            </a:r>
          </a:p>
          <a:p>
            <a:r>
              <a:rPr lang="vi-VN" sz="1400" dirty="0"/>
              <a:t>  pinMode(soundPin, OUTPUT);</a:t>
            </a:r>
          </a:p>
          <a:p>
            <a:r>
              <a:rPr lang="vi-VN" sz="1400" dirty="0"/>
              <a:t>}</a:t>
            </a:r>
          </a:p>
          <a:p>
            <a:endParaRPr lang="vi-VN" sz="1400" dirty="0"/>
          </a:p>
          <a:p>
            <a:r>
              <a:rPr lang="vi-VN" sz="1400" dirty="0"/>
              <a:t>void loop()</a:t>
            </a:r>
          </a:p>
          <a:p>
            <a:r>
              <a:rPr lang="vi-VN" sz="1400" dirty="0"/>
              <a:t>{</a:t>
            </a:r>
          </a:p>
          <a:p>
            <a:r>
              <a:rPr lang="vi-VN" sz="1400" dirty="0"/>
              <a:t>  </a:t>
            </a:r>
          </a:p>
          <a:p>
            <a:r>
              <a:rPr lang="vi-VN" sz="1400" dirty="0"/>
              <a:t>//Cấp cứu 2 - Còi xe cấp cứu</a:t>
            </a:r>
          </a:p>
          <a:p>
            <a:r>
              <a:rPr lang="vi-VN" sz="1400" dirty="0"/>
              <a:t>  for( int x = 0; x &lt; 180; x++)</a:t>
            </a:r>
          </a:p>
          <a:p>
            <a:r>
              <a:rPr lang="vi-VN" sz="1400" dirty="0"/>
              <a:t>  {</a:t>
            </a:r>
          </a:p>
          <a:p>
            <a:r>
              <a:rPr lang="vi-VN" sz="1400" dirty="0"/>
              <a:t>    //Chuyển đổi từ độ về Radial</a:t>
            </a:r>
          </a:p>
          <a:p>
            <a:r>
              <a:rPr lang="vi-VN" sz="1400" dirty="0"/>
              <a:t>    sinValue = (sin(x*	(3.14/180)));</a:t>
            </a:r>
          </a:p>
          <a:p>
            <a:r>
              <a:rPr lang="vi-VN" sz="1400" dirty="0"/>
              <a:t>    //Tạo tần số từ 16Hz --&gt; 20KHz - ngưỡng tai người có thể nghe được</a:t>
            </a:r>
          </a:p>
          <a:p>
            <a:r>
              <a:rPr lang="vi-VN" sz="1400" dirty="0"/>
              <a:t>    toneValue = 2000 + (int(sinValue*1000));</a:t>
            </a:r>
          </a:p>
          <a:p>
            <a:r>
              <a:rPr lang="vi-VN" sz="1400" dirty="0"/>
              <a:t>    tone(soundPin, toneValue);</a:t>
            </a:r>
          </a:p>
          <a:p>
            <a:r>
              <a:rPr lang="vi-VN" sz="1400" dirty="0"/>
              <a:t>    delay(2);</a:t>
            </a:r>
          </a:p>
          <a:p>
            <a:r>
              <a:rPr lang="vi-VN" sz="1400" dirty="0"/>
              <a:t>  }</a:t>
            </a:r>
          </a:p>
          <a:p>
            <a:r>
              <a:rPr lang="vi-VN" sz="1400" dirty="0"/>
              <a:t> }</a:t>
            </a:r>
          </a:p>
          <a:p>
            <a:r>
              <a:rPr lang="vi-VN" sz="1400" dirty="0"/>
              <a:t>	//hàm âm thanh: tone(pin, frequency-in-hertz);	//&gt;31hz</a:t>
            </a:r>
          </a:p>
          <a:p>
            <a:r>
              <a:rPr lang="vi-VN" sz="1400" dirty="0"/>
              <a:t>	//				tone(pin, frequency, duration-in-milliseconds);</a:t>
            </a:r>
          </a:p>
          <a:p>
            <a:r>
              <a:rPr lang="vi-VN" sz="1400" dirty="0"/>
              <a:t>	//				notone(pin);</a:t>
            </a:r>
            <a:endParaRPr lang="en-US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D72F10-05E7-5D47-0F4F-D1F7DEF860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0658" y="2437282"/>
            <a:ext cx="4231341" cy="3362325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C207E2A-D97D-C1A8-8910-13962DE2A84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61246" y="142393"/>
            <a:ext cx="8969189" cy="684553"/>
          </a:xfrm>
        </p:spPr>
        <p:txBody>
          <a:bodyPr/>
          <a:lstStyle/>
          <a:p>
            <a:pPr algn="ctr"/>
            <a:r>
              <a:rPr lang="en-US" sz="2400" b="1" dirty="0"/>
              <a:t>Lab 12: </a:t>
            </a:r>
            <a:r>
              <a:rPr lang="en-US" sz="2400" b="1" dirty="0" err="1"/>
              <a:t>Điều</a:t>
            </a:r>
            <a:r>
              <a:rPr lang="en-US" sz="2400" b="1" dirty="0"/>
              <a:t> </a:t>
            </a:r>
            <a:r>
              <a:rPr lang="en-US" sz="2400" b="1" dirty="0" err="1"/>
              <a:t>khiển</a:t>
            </a:r>
            <a:r>
              <a:rPr lang="en-US" sz="2400" b="1" dirty="0"/>
              <a:t> </a:t>
            </a:r>
            <a:r>
              <a:rPr lang="en-US" sz="2400" b="1" dirty="0" err="1"/>
              <a:t>Động</a:t>
            </a:r>
            <a:r>
              <a:rPr lang="en-US" sz="2400" b="1" dirty="0"/>
              <a:t> </a:t>
            </a:r>
            <a:r>
              <a:rPr lang="en-US" sz="2400" b="1" dirty="0" err="1"/>
              <a:t>cơ</a:t>
            </a:r>
            <a:r>
              <a:rPr lang="en-US" sz="2400" b="1" dirty="0"/>
              <a:t> Servo </a:t>
            </a:r>
            <a:r>
              <a:rPr lang="en-US" sz="2400" b="1" dirty="0" err="1"/>
              <a:t>và</a:t>
            </a:r>
            <a:r>
              <a:rPr lang="en-US" sz="2400" b="1" dirty="0"/>
              <a:t> </a:t>
            </a:r>
            <a:r>
              <a:rPr lang="en-US" sz="2400" b="1" dirty="0" err="1"/>
              <a:t>còi</a:t>
            </a:r>
            <a:r>
              <a:rPr lang="en-US" sz="2400" b="1" dirty="0"/>
              <a:t> </a:t>
            </a:r>
            <a:r>
              <a:rPr lang="en-US" sz="2400" b="1" dirty="0" err="1"/>
              <a:t>cấp</a:t>
            </a:r>
            <a:r>
              <a:rPr lang="en-US" sz="2400" b="1" dirty="0"/>
              <a:t> </a:t>
            </a:r>
            <a:r>
              <a:rPr lang="en-US" sz="2400" b="1" dirty="0" err="1"/>
              <a:t>cứu</a:t>
            </a:r>
            <a:br>
              <a:rPr lang="en-US" sz="2400" b="1" dirty="0"/>
            </a:br>
            <a:r>
              <a:rPr lang="en-US" sz="2400" b="1" dirty="0" err="1"/>
              <a:t>Ứng</a:t>
            </a:r>
            <a:r>
              <a:rPr lang="en-US" sz="2400" b="1" dirty="0"/>
              <a:t> </a:t>
            </a:r>
            <a:r>
              <a:rPr lang="en-US" sz="2400" b="1" dirty="0" err="1"/>
              <a:t>dụng</a:t>
            </a:r>
            <a:r>
              <a:rPr lang="en-US" sz="2400" b="1" dirty="0"/>
              <a:t> </a:t>
            </a:r>
            <a:r>
              <a:rPr lang="en-US" sz="2400" b="1" dirty="0" err="1"/>
              <a:t>triển</a:t>
            </a:r>
            <a:r>
              <a:rPr lang="en-US" sz="2400" b="1" dirty="0"/>
              <a:t> </a:t>
            </a:r>
            <a:r>
              <a:rPr lang="en-US" sz="2400" b="1" dirty="0" err="1"/>
              <a:t>khai</a:t>
            </a:r>
            <a:r>
              <a:rPr lang="en-US" sz="2400" b="1" dirty="0"/>
              <a:t> </a:t>
            </a:r>
            <a:r>
              <a:rPr lang="en-US" sz="2400" b="1" dirty="0" err="1"/>
              <a:t>bãi</a:t>
            </a:r>
            <a:r>
              <a:rPr lang="en-US" sz="2400" b="1" dirty="0"/>
              <a:t> </a:t>
            </a:r>
            <a:r>
              <a:rPr lang="en-US" sz="2400" b="1" dirty="0" err="1"/>
              <a:t>giữ</a:t>
            </a:r>
            <a:r>
              <a:rPr lang="en-US" sz="2400" b="1" dirty="0"/>
              <a:t> </a:t>
            </a:r>
            <a:r>
              <a:rPr lang="en-US" sz="2400" b="1" dirty="0" err="1"/>
              <a:t>xe</a:t>
            </a:r>
            <a:r>
              <a:rPr lang="en-US" sz="2400" b="1" dirty="0"/>
              <a:t> </a:t>
            </a:r>
            <a:r>
              <a:rPr lang="en-US" sz="2400" b="1" dirty="0" err="1"/>
              <a:t>thông</a:t>
            </a:r>
            <a:r>
              <a:rPr lang="en-US" sz="2400" b="1" dirty="0"/>
              <a:t> </a:t>
            </a:r>
            <a:r>
              <a:rPr lang="en-US" sz="2400" b="1" dirty="0" err="1"/>
              <a:t>minh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182702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5546D-3FE0-7E26-1498-B0F0E23D7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9EB79D4-769E-64CC-65AE-2919EE048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34" y="1173439"/>
            <a:ext cx="8310283" cy="6570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i="1" dirty="0">
                <a:solidFill>
                  <a:srgbClr val="002060"/>
                </a:solidFill>
              </a:rPr>
              <a:t>S</a:t>
            </a:r>
            <a:r>
              <a:rPr lang="en-US" i="1" dirty="0">
                <a:solidFill>
                  <a:srgbClr val="002060"/>
                </a:solidFill>
              </a:rPr>
              <a:t>Ơ ĐỒ ĐẤU NỐI THIẾT BỊ</a:t>
            </a:r>
            <a:endParaRPr lang="en-US" b="1" i="1" dirty="0">
              <a:solidFill>
                <a:srgbClr val="00206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DE4A36-6B64-4A2E-DBD7-71349CB23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BC5F3-20C3-46D3-932D-BAE27B3FCC69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FC1072-E2F5-43F3-BC57-09B5DB15F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128" y="1915002"/>
            <a:ext cx="8086165" cy="4674010"/>
          </a:xfrm>
          <a:prstGeom prst="rect">
            <a:avLst/>
          </a:prstGeom>
        </p:spPr>
      </p:pic>
      <p:sp>
        <p:nvSpPr>
          <p:cNvPr id="14" name="Title 2">
            <a:extLst>
              <a:ext uri="{FF2B5EF4-FFF2-40B4-BE49-F238E27FC236}">
                <a16:creationId xmlns:a16="http://schemas.microsoft.com/office/drawing/2014/main" id="{A4067FB2-1737-DCF4-E84C-09BB7B8501B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752599" y="134517"/>
            <a:ext cx="8969189" cy="684553"/>
          </a:xfrm>
        </p:spPr>
        <p:txBody>
          <a:bodyPr/>
          <a:lstStyle/>
          <a:p>
            <a:pPr algn="ctr"/>
            <a:r>
              <a:rPr lang="en-US" sz="2400" b="1" dirty="0"/>
              <a:t>ỨNG DỤNG THỰC HÀNH: </a:t>
            </a:r>
            <a:br>
              <a:rPr lang="en-US" sz="2400" b="1" dirty="0"/>
            </a:br>
            <a:r>
              <a:rPr lang="en-US" sz="2400" b="1" dirty="0"/>
              <a:t>LẬP TRÌNH HỆ THỐNG BÃI GIỮ XE THÔNG MINH</a:t>
            </a:r>
          </a:p>
        </p:txBody>
      </p:sp>
    </p:spTree>
    <p:extLst>
      <p:ext uri="{BB962C8B-B14F-4D97-AF65-F5344CB8AC3E}">
        <p14:creationId xmlns:p14="http://schemas.microsoft.com/office/powerpoint/2010/main" val="3529571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29FE9-CBB0-E978-72B4-6FE297839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A5103F7-EEDC-DE69-2965-E92C2505E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33" y="1173439"/>
            <a:ext cx="10152531" cy="463569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vi-VN" sz="2800" dirty="0"/>
              <a:t>1. MỤC TIÊU</a:t>
            </a:r>
          </a:p>
          <a:p>
            <a:pPr lvl="1"/>
            <a:r>
              <a:rPr lang="vi-VN" sz="2400" b="0" dirty="0"/>
              <a:t>Hiểu và vận dụng kiến thức lập trình vi điều khiển Arduino UNO R3.</a:t>
            </a:r>
          </a:p>
          <a:p>
            <a:pPr lvl="1"/>
            <a:r>
              <a:rPr lang="vi-VN" sz="2400" b="0" dirty="0"/>
              <a:t>Đọc và xử lý tín hiệu từ các cảm biến khoảng cách siêu âm (HC-SR04).</a:t>
            </a:r>
          </a:p>
          <a:p>
            <a:pPr lvl="1"/>
            <a:r>
              <a:rPr lang="vi-VN" sz="2400" b="0" dirty="0"/>
              <a:t>Điều khiển động cơ Servo, màn hình LCD I2C, còi còi báo (Buzzer) và đèn LED chỉ thị.</a:t>
            </a:r>
          </a:p>
          <a:p>
            <a:pPr lvl="1"/>
            <a:r>
              <a:rPr lang="vi-VN" sz="2400" b="0" dirty="0"/>
              <a:t>Xây dựng thuật toán quản lý trạng thái, chống đếm lặp (Edge Detection) khi xe ra/vào.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E8236F-E2F8-B01F-9588-841CFB5F2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BC5F3-20C3-46D3-932D-BAE27B3FCC69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4EB92C9-659C-463D-59FD-8D2928BA783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752599" y="134517"/>
            <a:ext cx="8969189" cy="684553"/>
          </a:xfrm>
        </p:spPr>
        <p:txBody>
          <a:bodyPr/>
          <a:lstStyle/>
          <a:p>
            <a:pPr algn="ctr"/>
            <a:r>
              <a:rPr lang="en-US" sz="2400" b="1" dirty="0"/>
              <a:t>ỨNG DỤNG THỰC HÀNH: </a:t>
            </a:r>
            <a:br>
              <a:rPr lang="en-US" sz="2400" b="1" dirty="0"/>
            </a:br>
            <a:r>
              <a:rPr lang="en-US" sz="2400" b="1" dirty="0"/>
              <a:t>LẬP TRÌNH HỆ THỐNG BÃI GIỮ XE THÔNG MINH</a:t>
            </a:r>
          </a:p>
        </p:txBody>
      </p:sp>
    </p:spTree>
    <p:extLst>
      <p:ext uri="{BB962C8B-B14F-4D97-AF65-F5344CB8AC3E}">
        <p14:creationId xmlns:p14="http://schemas.microsoft.com/office/powerpoint/2010/main" val="9290930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D3676-B006-762E-A0E7-AC7047D6B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18A678A-D04C-9A64-81A9-3E1AB3E13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33" y="1173439"/>
            <a:ext cx="10152531" cy="463569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vi-VN" sz="2800" dirty="0"/>
              <a:t>2. BẢNG ÁNH XẠ CHÂN KẾT NỐI (PIN MAPPING)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869400-8CDD-C2F7-8365-74699D0F9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BC5F3-20C3-46D3-932D-BAE27B3FCC69}" type="slidenum">
              <a:rPr lang="en-US" smtClean="0"/>
              <a:pPr/>
              <a:t>14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0EA176F-F25F-2EDE-47C6-A023AED495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5620414"/>
              </p:ext>
            </p:extLst>
          </p:nvPr>
        </p:nvGraphicFramePr>
        <p:xfrm>
          <a:off x="271182" y="2607612"/>
          <a:ext cx="10515600" cy="384048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5893072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65056855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92837337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1161212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b="1">
                          <a:effectLst/>
                          <a:latin typeface="Google Sans Text"/>
                        </a:rPr>
                        <a:t>Linh kiện</a:t>
                      </a:r>
                      <a:endParaRPr lang="vi-VN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b="1">
                          <a:effectLst/>
                          <a:latin typeface="Google Sans Text"/>
                        </a:rPr>
                        <a:t>Chân linh kiện</a:t>
                      </a:r>
                      <a:endParaRPr lang="vi-VN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b="1">
                          <a:effectLst/>
                          <a:latin typeface="Google Sans Text"/>
                        </a:rPr>
                        <a:t>Chân kết nối Arduino</a:t>
                      </a:r>
                      <a:endParaRPr lang="vi-VN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b="1">
                          <a:effectLst/>
                          <a:latin typeface="Google Sans Text"/>
                        </a:rPr>
                        <a:t>Ghi chú</a:t>
                      </a:r>
                      <a:endParaRPr lang="vi-VN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3428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b="1">
                          <a:effectLst/>
                          <a:latin typeface="Google Sans Text"/>
                        </a:rPr>
                        <a:t>Cảm biến siêu âm VÀO</a:t>
                      </a:r>
                      <a:endParaRPr lang="vi-VN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dirty="0">
                          <a:effectLst/>
                          <a:latin typeface="Google Sans Text"/>
                        </a:rPr>
                        <a:t>Trig / Echo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b="1">
                          <a:effectLst/>
                          <a:latin typeface="Google Sans Text"/>
                        </a:rPr>
                        <a:t>Pin 13</a:t>
                      </a:r>
                      <a:r>
                        <a:rPr lang="vi-VN">
                          <a:effectLst/>
                          <a:latin typeface="Google Sans Text"/>
                        </a:rPr>
                        <a:t> / </a:t>
                      </a:r>
                      <a:r>
                        <a:rPr lang="vi-VN" b="1">
                          <a:effectLst/>
                          <a:latin typeface="Google Sans Text"/>
                        </a:rPr>
                        <a:t>Pin 12</a:t>
                      </a:r>
                      <a:endParaRPr lang="vi-VN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>
                          <a:effectLst/>
                          <a:latin typeface="Google Sans Text"/>
                        </a:rPr>
                        <a:t>Phát hiện xe vào bãi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1469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b="1">
                          <a:effectLst/>
                          <a:latin typeface="Google Sans Text"/>
                        </a:rPr>
                        <a:t>Cảm biến siêu âm RA</a:t>
                      </a:r>
                      <a:endParaRPr lang="vi-VN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>
                          <a:effectLst/>
                          <a:latin typeface="Google Sans Text"/>
                        </a:rPr>
                        <a:t>Trig / Echo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b="1">
                          <a:effectLst/>
                          <a:latin typeface="Google Sans Text"/>
                        </a:rPr>
                        <a:t>Pin 3</a:t>
                      </a:r>
                      <a:r>
                        <a:rPr lang="vi-VN">
                          <a:effectLst/>
                          <a:latin typeface="Google Sans Text"/>
                        </a:rPr>
                        <a:t> / </a:t>
                      </a:r>
                      <a:r>
                        <a:rPr lang="vi-VN" b="1">
                          <a:effectLst/>
                          <a:latin typeface="Google Sans Text"/>
                        </a:rPr>
                        <a:t>Pin 2</a:t>
                      </a:r>
                      <a:endParaRPr lang="vi-VN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dirty="0">
                          <a:effectLst/>
                          <a:latin typeface="Google Sans Text"/>
                        </a:rPr>
                        <a:t>Phát hiện xe ra khỏi bãi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1568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b="1">
                          <a:effectLst/>
                          <a:latin typeface="Google Sans Text"/>
                        </a:rPr>
                        <a:t>Servo Cổng VÀO</a:t>
                      </a:r>
                      <a:endParaRPr lang="vi-VN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>
                          <a:effectLst/>
                          <a:latin typeface="Google Sans Text"/>
                        </a:rPr>
                        <a:t>Signal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b="1">
                          <a:effectLst/>
                          <a:latin typeface="Google Sans Text"/>
                        </a:rPr>
                        <a:t>Pin 9</a:t>
                      </a:r>
                      <a:endParaRPr lang="vi-VN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>
                          <a:effectLst/>
                          <a:latin typeface="Google Sans Text"/>
                        </a:rPr>
                        <a:t>Mở/Đóng barrier vào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0725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b="1">
                          <a:effectLst/>
                          <a:latin typeface="Google Sans Text"/>
                        </a:rPr>
                        <a:t>Servo Cổng RA</a:t>
                      </a:r>
                      <a:endParaRPr lang="vi-VN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>
                          <a:effectLst/>
                          <a:latin typeface="Google Sans Text"/>
                        </a:rPr>
                        <a:t>Signal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b="1">
                          <a:effectLst/>
                          <a:latin typeface="Google Sans Text"/>
                        </a:rPr>
                        <a:t>Pin 10</a:t>
                      </a:r>
                      <a:endParaRPr lang="vi-VN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>
                          <a:effectLst/>
                          <a:latin typeface="Google Sans Text"/>
                        </a:rPr>
                        <a:t>Mở/Đóng barrier ra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8881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b="1">
                          <a:effectLst/>
                          <a:latin typeface="Google Sans Text"/>
                        </a:rPr>
                        <a:t>Còi báo (Buzzer)</a:t>
                      </a:r>
                      <a:endParaRPr lang="vi-VN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>
                          <a:effectLst/>
                          <a:latin typeface="Google Sans Text"/>
                        </a:rPr>
                        <a:t>Positive (+)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b="1">
                          <a:effectLst/>
                          <a:latin typeface="Google Sans Text"/>
                        </a:rPr>
                        <a:t>Pin 8</a:t>
                      </a:r>
                      <a:endParaRPr lang="vi-VN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>
                          <a:effectLst/>
                          <a:latin typeface="Google Sans Text"/>
                        </a:rPr>
                        <a:t>Phát âm thanh tín hiệu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439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b="1">
                          <a:effectLst/>
                          <a:latin typeface="Google Sans Text"/>
                        </a:rPr>
                        <a:t>LED Đỏ</a:t>
                      </a:r>
                      <a:endParaRPr lang="vi-VN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>
                          <a:effectLst/>
                          <a:latin typeface="Google Sans Text"/>
                        </a:rPr>
                        <a:t>Anode (+)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b="1">
                          <a:effectLst/>
                          <a:latin typeface="Google Sans Text"/>
                        </a:rPr>
                        <a:t>Pin 7</a:t>
                      </a:r>
                      <a:endParaRPr lang="vi-VN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>
                          <a:effectLst/>
                          <a:latin typeface="Google Sans Text"/>
                        </a:rPr>
                        <a:t>Báo bãi xe đầy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45740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b="1">
                          <a:effectLst/>
                          <a:latin typeface="Google Sans Text"/>
                        </a:rPr>
                        <a:t>LED Xanh</a:t>
                      </a:r>
                      <a:endParaRPr lang="vi-VN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>
                          <a:effectLst/>
                          <a:latin typeface="Google Sans Text"/>
                        </a:rPr>
                        <a:t>Anode (+)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b="1">
                          <a:effectLst/>
                          <a:latin typeface="Google Sans Text"/>
                        </a:rPr>
                        <a:t>Pin 6</a:t>
                      </a:r>
                      <a:endParaRPr lang="vi-VN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>
                          <a:effectLst/>
                          <a:latin typeface="Google Sans Text"/>
                        </a:rPr>
                        <a:t>Báo bãi xe còn chỗ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83071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b="1">
                          <a:effectLst/>
                          <a:latin typeface="Google Sans Text"/>
                        </a:rPr>
                        <a:t>Màn hình LCD 16x2 (I2C)</a:t>
                      </a:r>
                      <a:endParaRPr lang="vi-VN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>
                          <a:effectLst/>
                          <a:latin typeface="Google Sans Text"/>
                        </a:rPr>
                        <a:t>SDA / SCL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b="1">
                          <a:effectLst/>
                          <a:latin typeface="Google Sans Text"/>
                        </a:rPr>
                        <a:t>Pin A4</a:t>
                      </a:r>
                      <a:r>
                        <a:rPr lang="vi-VN">
                          <a:effectLst/>
                          <a:latin typeface="Google Sans Text"/>
                        </a:rPr>
                        <a:t> / </a:t>
                      </a:r>
                      <a:r>
                        <a:rPr lang="vi-VN" b="1">
                          <a:effectLst/>
                          <a:latin typeface="Google Sans Text"/>
                        </a:rPr>
                        <a:t>Pin A5</a:t>
                      </a:r>
                      <a:endParaRPr lang="vi-VN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dirty="0">
                          <a:effectLst/>
                          <a:latin typeface="Google Sans Text"/>
                        </a:rPr>
                        <a:t>Địa chỉ I2C thường là 0x27 hoặc 0x3F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566549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7A7C234E-2600-90CC-F647-7719FC008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25" y="1834725"/>
            <a:ext cx="112859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vi-V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Sinh viên bắt buộc phải cấu hình các chân trong code đúng theo sơ đồ phần cứng đã cho:</a:t>
            </a:r>
            <a:endParaRPr kumimoji="0" lang="vi-VN" altLang="vi-VN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EBDF60F0-A06F-C50E-DDD2-B4B6F2ECA2E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752599" y="134517"/>
            <a:ext cx="8969189" cy="684553"/>
          </a:xfrm>
        </p:spPr>
        <p:txBody>
          <a:bodyPr/>
          <a:lstStyle/>
          <a:p>
            <a:pPr algn="ctr"/>
            <a:r>
              <a:rPr lang="en-US" sz="2400" b="1" dirty="0"/>
              <a:t>ỨNG DỤNG THỰC HÀNH: </a:t>
            </a:r>
            <a:br>
              <a:rPr lang="en-US" sz="2400" b="1" dirty="0"/>
            </a:br>
            <a:r>
              <a:rPr lang="en-US" sz="2400" b="1" dirty="0"/>
              <a:t>LẬP TRÌNH HỆ THỐNG BÃI GIỮ XE THÔNG MINH</a:t>
            </a:r>
          </a:p>
        </p:txBody>
      </p:sp>
    </p:spTree>
    <p:extLst>
      <p:ext uri="{BB962C8B-B14F-4D97-AF65-F5344CB8AC3E}">
        <p14:creationId xmlns:p14="http://schemas.microsoft.com/office/powerpoint/2010/main" val="14586317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A8841-AEDF-3876-C1FF-68647F1EF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BC783F-0DE8-E08C-1909-B580DC143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33" y="1173438"/>
            <a:ext cx="10340791" cy="54155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vi-VN" sz="2800" dirty="0"/>
              <a:t>3. YÊU CẦU NGUYÊN LÝ HOẠT ĐỘNG</a:t>
            </a:r>
          </a:p>
          <a:p>
            <a:pPr lvl="1"/>
            <a:r>
              <a:rPr lang="vi-VN" sz="2400" dirty="0"/>
              <a:t>Giả định bãi xe có sức chứa tối đa MAX_SLOTS = 3 (sinh viên khai báo dưới dạng biến hằng số để dễ chỉnh sửa).</a:t>
            </a:r>
          </a:p>
          <a:p>
            <a:pPr marL="0" indent="0">
              <a:buNone/>
            </a:pPr>
            <a:r>
              <a:rPr lang="vi-VN" sz="2600" dirty="0"/>
              <a:t>a. Trạng thái ban đầu (Chờ)</a:t>
            </a:r>
          </a:p>
          <a:p>
            <a:pPr lvl="1"/>
            <a:r>
              <a:rPr lang="vi-VN" sz="2400" dirty="0"/>
              <a:t>Số chỗ còn lại mặc định: 3.</a:t>
            </a:r>
          </a:p>
          <a:p>
            <a:pPr lvl="1"/>
            <a:r>
              <a:rPr lang="vi-VN" sz="2400" dirty="0"/>
              <a:t>LED Xanh SÁNG, LED Đỏ TẮT.</a:t>
            </a:r>
          </a:p>
          <a:p>
            <a:pPr lvl="1"/>
            <a:r>
              <a:rPr lang="vi-VN" sz="2400" dirty="0"/>
              <a:t>Cả 2 Servo ở góc 0° (Barrier đóng).</a:t>
            </a:r>
          </a:p>
          <a:p>
            <a:pPr lvl="1"/>
            <a:r>
              <a:rPr lang="vi-VN" sz="2400" dirty="0"/>
              <a:t>LCD hiển thị:</a:t>
            </a:r>
          </a:p>
          <a:p>
            <a:pPr lvl="2"/>
            <a:r>
              <a:rPr lang="vi-VN" sz="2400" dirty="0"/>
              <a:t>Dòng 1: Trang thai: :) </a:t>
            </a:r>
          </a:p>
          <a:p>
            <a:pPr lvl="2"/>
            <a:r>
              <a:rPr lang="vi-VN" sz="2400" dirty="0"/>
              <a:t>Dòng 2: Cho con lai: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AF478D-790F-2676-BE16-F5E7D2629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BC5F3-20C3-46D3-932D-BAE27B3FCC69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E544AEC8-1420-2245-B17D-E7C5654ED18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752599" y="134517"/>
            <a:ext cx="8969189" cy="684553"/>
          </a:xfrm>
        </p:spPr>
        <p:txBody>
          <a:bodyPr/>
          <a:lstStyle/>
          <a:p>
            <a:pPr algn="ctr"/>
            <a:r>
              <a:rPr lang="en-US" sz="2400" b="1" dirty="0"/>
              <a:t>ỨNG DỤNG THỰC HÀNH: </a:t>
            </a:r>
            <a:br>
              <a:rPr lang="en-US" sz="2400" b="1" dirty="0"/>
            </a:br>
            <a:r>
              <a:rPr lang="en-US" sz="2400" b="1" dirty="0"/>
              <a:t>LẬP TRÌNH HỆ THỐNG BÃI GIỮ XE THÔNG MINH</a:t>
            </a:r>
          </a:p>
        </p:txBody>
      </p:sp>
    </p:spTree>
    <p:extLst>
      <p:ext uri="{BB962C8B-B14F-4D97-AF65-F5344CB8AC3E}">
        <p14:creationId xmlns:p14="http://schemas.microsoft.com/office/powerpoint/2010/main" val="29372110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45A72-DD3A-BB7D-B18B-F6CC3819A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4238A31-4723-F70C-AAFC-9974D7FAB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33" y="1173438"/>
            <a:ext cx="10340791" cy="54155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vi-VN" sz="2800" dirty="0"/>
              <a:t>3. YÊU CẦU NGUYÊN LÝ HOẠT ĐỘNG</a:t>
            </a:r>
          </a:p>
          <a:p>
            <a:pPr marL="0" indent="0">
              <a:buNone/>
            </a:pPr>
            <a:r>
              <a:rPr lang="vi-VN" sz="2400" dirty="0"/>
              <a:t>b. Xử lý CỔNG VÀO (Entry System)</a:t>
            </a:r>
          </a:p>
          <a:p>
            <a:r>
              <a:rPr lang="vi-VN" sz="2400" dirty="0"/>
              <a:t>Khi Cảm biến Vào phát hiện vật cản (khoảng cách &lt; 10cm):</a:t>
            </a:r>
          </a:p>
          <a:p>
            <a:r>
              <a:rPr lang="vi-VN" sz="2400" dirty="0"/>
              <a:t>Nếu bãi xe CÒN CHỖ (Số chỗ &gt; 0):</a:t>
            </a:r>
          </a:p>
          <a:p>
            <a:pPr lvl="1"/>
            <a:r>
              <a:rPr lang="vi-VN" sz="2400" dirty="0"/>
              <a:t>Giảm số chỗ trống đi 1.</a:t>
            </a:r>
          </a:p>
          <a:p>
            <a:pPr lvl="1"/>
            <a:r>
              <a:rPr lang="vi-VN" sz="2400" dirty="0"/>
              <a:t>Còi kêu 1 tiếng "bíp" ngắn (khoảng 100ms).</a:t>
            </a:r>
          </a:p>
          <a:p>
            <a:pPr lvl="1"/>
            <a:r>
              <a:rPr lang="vi-VN" sz="2400" dirty="0"/>
              <a:t>Servo Vào quay đến góc </a:t>
            </a:r>
            <a:r>
              <a:rPr lang="vi-VN" sz="2400" b="1" dirty="0"/>
              <a:t>90°</a:t>
            </a:r>
            <a:r>
              <a:rPr lang="vi-VN" sz="2400" dirty="0"/>
              <a:t> (Mở barrier) trong 3 giây để xe qua, sau đó tự động quay về </a:t>
            </a:r>
            <a:r>
              <a:rPr lang="vi-VN" sz="2400" b="1" dirty="0"/>
              <a:t>0°</a:t>
            </a:r>
            <a:r>
              <a:rPr lang="vi-VN" sz="2400" dirty="0"/>
              <a:t> (Đóng barrier).</a:t>
            </a:r>
          </a:p>
          <a:p>
            <a:pPr lvl="1"/>
            <a:r>
              <a:rPr lang="vi-VN" sz="2400" dirty="0"/>
              <a:t>Cập nhật thông tin lên LCD.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3D1DA9-C52D-54AB-C47E-55C7938D4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BC5F3-20C3-46D3-932D-BAE27B3FCC69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FF554F4-940E-F712-1304-650587FE3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752599" y="134517"/>
            <a:ext cx="8969189" cy="684553"/>
          </a:xfrm>
        </p:spPr>
        <p:txBody>
          <a:bodyPr/>
          <a:lstStyle/>
          <a:p>
            <a:pPr algn="ctr"/>
            <a:r>
              <a:rPr lang="en-US" sz="2400" b="1" dirty="0"/>
              <a:t>ỨNG DỤNG THỰC HÀNH: </a:t>
            </a:r>
            <a:br>
              <a:rPr lang="en-US" sz="2400" b="1" dirty="0"/>
            </a:br>
            <a:r>
              <a:rPr lang="en-US" sz="2400" b="1" dirty="0"/>
              <a:t>LẬP TRÌNH HỆ THỐNG BÃI GIỮ XE THÔNG MINH</a:t>
            </a:r>
          </a:p>
        </p:txBody>
      </p:sp>
    </p:spTree>
    <p:extLst>
      <p:ext uri="{BB962C8B-B14F-4D97-AF65-F5344CB8AC3E}">
        <p14:creationId xmlns:p14="http://schemas.microsoft.com/office/powerpoint/2010/main" val="10347132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1B2C1-9B64-2A0B-7378-A17BD1232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CDEAB19-E4E7-1E7C-F58F-9731C6A25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33" y="1173438"/>
            <a:ext cx="10340791" cy="54155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vi-VN" sz="2800" dirty="0"/>
              <a:t>3. YÊU CẦU NGUYÊN LÝ HOẠT ĐỘNG</a:t>
            </a:r>
          </a:p>
          <a:p>
            <a:pPr marL="0" indent="0">
              <a:buNone/>
            </a:pPr>
            <a:r>
              <a:rPr lang="vi-VN" sz="2400" dirty="0"/>
              <a:t>b. Xử lý CỔNG VÀO (Entry System)</a:t>
            </a:r>
          </a:p>
          <a:p>
            <a:r>
              <a:rPr lang="vi-VN" sz="2400" dirty="0"/>
              <a:t>Nếu bãi xe ĐÃ ĐẦY (Số chỗ = 0):</a:t>
            </a:r>
          </a:p>
          <a:p>
            <a:pPr lvl="1"/>
            <a:r>
              <a:rPr lang="vi-VN" sz="2400" dirty="0"/>
              <a:t>Barrier Vào </a:t>
            </a:r>
            <a:r>
              <a:rPr lang="vi-VN" sz="2400" b="1" dirty="0"/>
              <a:t>KHÔNG mở</a:t>
            </a:r>
            <a:r>
              <a:rPr lang="vi-VN" sz="2400" dirty="0"/>
              <a:t>.</a:t>
            </a:r>
          </a:p>
          <a:p>
            <a:pPr lvl="1"/>
            <a:r>
              <a:rPr lang="vi-VN" sz="2400" dirty="0"/>
              <a:t>LED Xanh </a:t>
            </a:r>
            <a:r>
              <a:rPr lang="vi-VN" sz="2400" b="1" dirty="0"/>
              <a:t>TẮT</a:t>
            </a:r>
            <a:r>
              <a:rPr lang="vi-VN" sz="2400" dirty="0"/>
              <a:t>, LED Đỏ </a:t>
            </a:r>
            <a:r>
              <a:rPr lang="vi-VN" sz="2400" b="1" dirty="0"/>
              <a:t>SÁNG</a:t>
            </a:r>
            <a:r>
              <a:rPr lang="vi-VN" sz="2400" dirty="0"/>
              <a:t>.</a:t>
            </a:r>
          </a:p>
          <a:p>
            <a:pPr lvl="1"/>
            <a:r>
              <a:rPr lang="vi-VN" sz="2400" dirty="0"/>
              <a:t>Còi phát âm thanh cảnh báo ngắt quãng hoặc kéo dài.</a:t>
            </a:r>
          </a:p>
          <a:p>
            <a:pPr lvl="1"/>
            <a:r>
              <a:rPr lang="vi-VN" sz="2400" dirty="0"/>
              <a:t>LCD hiển thị:</a:t>
            </a:r>
          </a:p>
          <a:p>
            <a:pPr lvl="2"/>
            <a:r>
              <a:rPr lang="vi-VN" sz="2400" dirty="0"/>
              <a:t>Dòng 1: Trang thai: X</a:t>
            </a:r>
          </a:p>
          <a:p>
            <a:pPr lvl="2"/>
            <a:r>
              <a:rPr lang="vi-VN" sz="2400" dirty="0"/>
              <a:t>Dòng 2: Bai xe da day!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567982-153D-FB05-8E15-269CA51E0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BC5F3-20C3-46D3-932D-BAE27B3FCC69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5504E303-796C-FA7F-35E0-988EF1C30A8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752599" y="134517"/>
            <a:ext cx="8969189" cy="684553"/>
          </a:xfrm>
        </p:spPr>
        <p:txBody>
          <a:bodyPr/>
          <a:lstStyle/>
          <a:p>
            <a:pPr algn="ctr"/>
            <a:r>
              <a:rPr lang="en-US" sz="2400" b="1" dirty="0"/>
              <a:t>ỨNG DỤNG THỰC HÀNH: </a:t>
            </a:r>
            <a:br>
              <a:rPr lang="en-US" sz="2400" b="1" dirty="0"/>
            </a:br>
            <a:r>
              <a:rPr lang="en-US" sz="2400" b="1" dirty="0"/>
              <a:t>LẬP TRÌNH HỆ THỐNG BÃI GIỮ XE THÔNG MINH</a:t>
            </a:r>
          </a:p>
        </p:txBody>
      </p:sp>
    </p:spTree>
    <p:extLst>
      <p:ext uri="{BB962C8B-B14F-4D97-AF65-F5344CB8AC3E}">
        <p14:creationId xmlns:p14="http://schemas.microsoft.com/office/powerpoint/2010/main" val="30072428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345CD-4CD6-0CD4-FB31-64E4B9916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27B482-2512-69CD-089D-22DCFD47B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33" y="1173438"/>
            <a:ext cx="10340791" cy="54155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vi-VN" sz="2800" dirty="0"/>
              <a:t>3. YÊU CẦU NGUYÊN LÝ HOẠT ĐỘNG</a:t>
            </a:r>
          </a:p>
          <a:p>
            <a:pPr marL="0" indent="0">
              <a:buNone/>
            </a:pPr>
            <a:r>
              <a:rPr lang="vi-VN" sz="2400" dirty="0"/>
              <a:t>c. Xử lý CỔNG RA (Exit System </a:t>
            </a:r>
          </a:p>
          <a:p>
            <a:r>
              <a:rPr lang="vi-VN" sz="2400" dirty="0"/>
              <a:t>Khi Cảm biến Ra phát hiện vật cản (khoảng cách &lt; 10cm):</a:t>
            </a:r>
          </a:p>
          <a:p>
            <a:pPr lvl="1"/>
            <a:r>
              <a:rPr lang="vi-VN" sz="2400" b="1" dirty="0"/>
              <a:t>Nếu bãi xe chưa rỗng (Số chỗ &lt; MAX_SLOTS):</a:t>
            </a:r>
            <a:endParaRPr lang="vi-VN" sz="2400" dirty="0"/>
          </a:p>
          <a:p>
            <a:pPr lvl="2"/>
            <a:r>
              <a:rPr lang="vi-VN" sz="2400" dirty="0"/>
              <a:t>Tăng số chỗ trống lên 1.</a:t>
            </a:r>
          </a:p>
          <a:p>
            <a:pPr lvl="2"/>
            <a:r>
              <a:rPr lang="vi-VN" sz="2400" dirty="0"/>
              <a:t>Còi kêu 1 tiếng "bíp" ngắn.</a:t>
            </a:r>
          </a:p>
          <a:p>
            <a:pPr lvl="2"/>
            <a:r>
              <a:rPr lang="vi-VN" sz="2400" dirty="0"/>
              <a:t>Servo Ra quay đến góc </a:t>
            </a:r>
            <a:r>
              <a:rPr lang="vi-VN" sz="2400" b="1" dirty="0"/>
              <a:t>90°</a:t>
            </a:r>
            <a:r>
              <a:rPr lang="vi-VN" sz="2400" dirty="0"/>
              <a:t> (Mở barrier) trong 3 giây, sau đó tự động quay về </a:t>
            </a:r>
            <a:r>
              <a:rPr lang="vi-VN" sz="2400" b="1" dirty="0"/>
              <a:t>0°</a:t>
            </a:r>
            <a:r>
              <a:rPr lang="vi-VN" sz="2400" dirty="0"/>
              <a:t>.</a:t>
            </a:r>
          </a:p>
          <a:p>
            <a:pPr lvl="2"/>
            <a:r>
              <a:rPr lang="vi-VN" sz="2400" dirty="0"/>
              <a:t>Nếu trước đó bãi xe bị đầy, chuyển LED Đỏ </a:t>
            </a:r>
            <a:r>
              <a:rPr lang="vi-VN" sz="2400" b="1" dirty="0"/>
              <a:t>TẮT</a:t>
            </a:r>
            <a:r>
              <a:rPr lang="vi-VN" sz="2400" dirty="0"/>
              <a:t>, LED Xanh </a:t>
            </a:r>
            <a:r>
              <a:rPr lang="vi-VN" sz="2400" b="1" dirty="0"/>
              <a:t>SÁNG</a:t>
            </a:r>
            <a:r>
              <a:rPr lang="vi-VN" sz="2400" dirty="0"/>
              <a:t> trở lại.</a:t>
            </a:r>
          </a:p>
          <a:p>
            <a:pPr lvl="2"/>
            <a:r>
              <a:rPr lang="vi-VN" sz="2400" dirty="0"/>
              <a:t>Cập nhật thông tin mới lên LCD.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0C7E93-6103-26F3-EBD4-6015314E1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BC5F3-20C3-46D3-932D-BAE27B3FCC69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A7ECB7-EB6F-183B-6E29-557E08FB034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752599" y="134517"/>
            <a:ext cx="8969189" cy="684553"/>
          </a:xfrm>
        </p:spPr>
        <p:txBody>
          <a:bodyPr/>
          <a:lstStyle/>
          <a:p>
            <a:pPr algn="ctr"/>
            <a:r>
              <a:rPr lang="en-US" sz="2400" b="1" dirty="0"/>
              <a:t>ỨNG DỤNG THỰC HÀNH: </a:t>
            </a:r>
            <a:br>
              <a:rPr lang="en-US" sz="2400" b="1" dirty="0"/>
            </a:br>
            <a:r>
              <a:rPr lang="en-US" sz="2400" b="1" dirty="0"/>
              <a:t>LẬP TRÌNH HỆ THỐNG BÃI GIỮ XE THÔNG MINH</a:t>
            </a:r>
          </a:p>
        </p:txBody>
      </p:sp>
    </p:spTree>
    <p:extLst>
      <p:ext uri="{BB962C8B-B14F-4D97-AF65-F5344CB8AC3E}">
        <p14:creationId xmlns:p14="http://schemas.microsoft.com/office/powerpoint/2010/main" val="2848809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A5DEE-FFBE-D346-6E54-87BDD9286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56F35E7-7EBC-C57A-A505-9F2B3A59D9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33" y="1173438"/>
            <a:ext cx="10340791" cy="54155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vi-VN" sz="2800" dirty="0"/>
              <a:t>4. CÂU HỎI MỞ RỘNG (ĐIỂM CỘNG +10%)</a:t>
            </a:r>
          </a:p>
          <a:p>
            <a:r>
              <a:rPr lang="vi-VN" sz="2400" b="0" dirty="0"/>
              <a:t>Thay vì dùng hàm </a:t>
            </a:r>
            <a:r>
              <a:rPr lang="vi-VN" b="0" dirty="0"/>
              <a:t>delay()</a:t>
            </a:r>
            <a:r>
              <a:rPr lang="vi-VN" sz="2400" b="0" dirty="0"/>
              <a:t> làm đóng băng toàn bộ hệ thống trong thời gian chờ xe qua barrier, hãy cải tiến code bằng hàm </a:t>
            </a:r>
            <a:r>
              <a:rPr lang="vi-VN" b="0" dirty="0"/>
              <a:t>millis()</a:t>
            </a:r>
            <a:r>
              <a:rPr lang="vi-VN" sz="2400" b="0" dirty="0"/>
              <a:t> để hệ thống vẫn có thể nhận tín hiệu ở cổng còn lại trong lúc 1 cổng đang mở.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C7F116-B266-0A44-F6BC-44912FB4E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BC5F3-20C3-46D3-932D-BAE27B3FCC69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4CBC13C-CB5E-6330-82D3-A5AA86F287F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752599" y="134517"/>
            <a:ext cx="8969189" cy="684553"/>
          </a:xfrm>
        </p:spPr>
        <p:txBody>
          <a:bodyPr/>
          <a:lstStyle/>
          <a:p>
            <a:pPr algn="ctr"/>
            <a:r>
              <a:rPr lang="en-US" sz="2400" b="1" dirty="0"/>
              <a:t>ỨNG DỤNG THỰC HÀNH: </a:t>
            </a:r>
            <a:br>
              <a:rPr lang="en-US" sz="2400" b="1" dirty="0"/>
            </a:br>
            <a:r>
              <a:rPr lang="en-US" sz="2400" b="1" dirty="0"/>
              <a:t>LẬP TRÌNH HỆ THỐNG BÃI GIỮ XE THÔNG MINH</a:t>
            </a:r>
          </a:p>
        </p:txBody>
      </p:sp>
    </p:spTree>
    <p:extLst>
      <p:ext uri="{BB962C8B-B14F-4D97-AF65-F5344CB8AC3E}">
        <p14:creationId xmlns:p14="http://schemas.microsoft.com/office/powerpoint/2010/main" val="34501446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heme/theme1.xml><?xml version="1.0" encoding="utf-8"?>
<a:theme xmlns:a="http://schemas.openxmlformats.org/drawingml/2006/main" name="ThemeIo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48806B"/>
        </a:dk1>
        <a:lt1>
          <a:srgbClr val="FFFFFF"/>
        </a:lt1>
        <a:dk2>
          <a:srgbClr val="77956D"/>
        </a:dk2>
        <a:lt2>
          <a:srgbClr val="C0C0C0"/>
        </a:lt2>
        <a:accent1>
          <a:srgbClr val="6BB9C3"/>
        </a:accent1>
        <a:accent2>
          <a:srgbClr val="E7BA15"/>
        </a:accent2>
        <a:accent3>
          <a:srgbClr val="FFFFFF"/>
        </a:accent3>
        <a:accent4>
          <a:srgbClr val="3C6C5A"/>
        </a:accent4>
        <a:accent5>
          <a:srgbClr val="BAD9DE"/>
        </a:accent5>
        <a:accent6>
          <a:srgbClr val="D1A812"/>
        </a:accent6>
        <a:hlink>
          <a:srgbClr val="76C14D"/>
        </a:hlink>
        <a:folHlink>
          <a:srgbClr val="B0C2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5F5F5F"/>
        </a:dk1>
        <a:lt1>
          <a:srgbClr val="FFFFFF"/>
        </a:lt1>
        <a:dk2>
          <a:srgbClr val="8D8D8D"/>
        </a:dk2>
        <a:lt2>
          <a:srgbClr val="C0C0C0"/>
        </a:lt2>
        <a:accent1>
          <a:srgbClr val="8EC072"/>
        </a:accent1>
        <a:accent2>
          <a:srgbClr val="5DB8CD"/>
        </a:accent2>
        <a:accent3>
          <a:srgbClr val="FFFFFF"/>
        </a:accent3>
        <a:accent4>
          <a:srgbClr val="505050"/>
        </a:accent4>
        <a:accent5>
          <a:srgbClr val="C6DCBC"/>
        </a:accent5>
        <a:accent6>
          <a:srgbClr val="53A6BA"/>
        </a:accent6>
        <a:hlink>
          <a:srgbClr val="D68B40"/>
        </a:hlink>
        <a:folHlink>
          <a:srgbClr val="D5D17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003366"/>
        </a:dk1>
        <a:lt1>
          <a:srgbClr val="FFFFFF"/>
        </a:lt1>
        <a:dk2>
          <a:srgbClr val="5086C2"/>
        </a:dk2>
        <a:lt2>
          <a:srgbClr val="C0C0C0"/>
        </a:lt2>
        <a:accent1>
          <a:srgbClr val="DE8848"/>
        </a:accent1>
        <a:accent2>
          <a:srgbClr val="85BA54"/>
        </a:accent2>
        <a:accent3>
          <a:srgbClr val="FFFFFF"/>
        </a:accent3>
        <a:accent4>
          <a:srgbClr val="002A56"/>
        </a:accent4>
        <a:accent5>
          <a:srgbClr val="ECC3B1"/>
        </a:accent5>
        <a:accent6>
          <a:srgbClr val="78A84B"/>
        </a:accent6>
        <a:hlink>
          <a:srgbClr val="4C59D2"/>
        </a:hlink>
        <a:folHlink>
          <a:srgbClr val="A0B5C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IoT" id="{0B248CF1-28A7-4853-9106-FDF7260EA869}" vid="{94571511-30A3-49E3-AD2F-8E731037B9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1409</TotalTime>
  <Words>2075</Words>
  <Application>Microsoft Office PowerPoint</Application>
  <PresentationFormat>Widescreen</PresentationFormat>
  <Paragraphs>253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Calibri</vt:lpstr>
      <vt:lpstr>Google Sans Text</vt:lpstr>
      <vt:lpstr>Tahoma</vt:lpstr>
      <vt:lpstr>Times New Roman</vt:lpstr>
      <vt:lpstr>Verdana</vt:lpstr>
      <vt:lpstr>Wingdings</vt:lpstr>
      <vt:lpstr>ThemeIoT</vt:lpstr>
      <vt:lpstr>CÔNG NGHỆ IoT</vt:lpstr>
      <vt:lpstr>Lab 12: Điều khiển Động cơ Servo và còi cấp cứu Ứng dụng triển khai bãi giữ xe thông minh</vt:lpstr>
      <vt:lpstr>Lab 12: Điều khiển Động cơ Servo và còi cấp cứu Ứng dụng triển khai bãi giữ xe thông minh</vt:lpstr>
      <vt:lpstr>Lab 12: Điều khiển Động cơ Servo và còi cấp cứu Ứng dụng triển khai bãi giữ xe thông minh</vt:lpstr>
      <vt:lpstr>Lab 12: Điều khiển Động cơ Servo và còi cấp cứu Ứng dụng triển khai bãi giữ xe thông minh</vt:lpstr>
      <vt:lpstr>Lab 12: Điều khiển Động cơ Servo và còi cấp cứu Ứng dụng triển khai bãi giữ xe thông minh</vt:lpstr>
      <vt:lpstr>Lab 12: Điều khiển Động cơ Servo và còi cấp cứu Ứng dụng triển khai bãi giữ xe thông minh</vt:lpstr>
      <vt:lpstr>Lab 12: Điều khiển Động cơ Servo và còi cấp cứu Ứng dụng triển khai bãi giữ xe thông minh</vt:lpstr>
      <vt:lpstr>Lab 12: Điều khiển Động cơ Servo và còi cấp cứu Ứng dụng triển khai bãi giữ xe thông minh</vt:lpstr>
      <vt:lpstr>Lab 12: Điều khiển Động cơ Servo và còi cấp cứu Ứng dụng triển khai bãi giữ xe thông minh</vt:lpstr>
      <vt:lpstr>Lab 12: Điều khiển Động cơ Servo và còi cấp cứu Ứng dụng triển khai bãi giữ xe thông minh</vt:lpstr>
      <vt:lpstr>ỨNG DỤNG THỰC HÀNH:  LẬP TRÌNH HỆ THỐNG BÃI GIỮ XE THÔNG MINH</vt:lpstr>
      <vt:lpstr>ỨNG DỤNG THỰC HÀNH:  LẬP TRÌNH HỆ THỐNG BÃI GIỮ XE THÔNG MINH</vt:lpstr>
      <vt:lpstr>ỨNG DỤNG THỰC HÀNH:  LẬP TRÌNH HỆ THỐNG BÃI GIỮ XE THÔNG MINH</vt:lpstr>
      <vt:lpstr>ỨNG DỤNG THỰC HÀNH:  LẬP TRÌNH HỆ THỐNG BÃI GIỮ XE THÔNG MINH</vt:lpstr>
      <vt:lpstr>ỨNG DỤNG THỰC HÀNH:  LẬP TRÌNH HỆ THỐNG BÃI GIỮ XE THÔNG MINH</vt:lpstr>
      <vt:lpstr>ỨNG DỤNG THỰC HÀNH:  LẬP TRÌNH HỆ THỐNG BÃI GIỮ XE THÔNG MINH</vt:lpstr>
      <vt:lpstr>ỨNG DỤNG THỰC HÀNH:  LẬP TRÌNH HỆ THỐNG BÃI GIỮ XE THÔNG MINH</vt:lpstr>
      <vt:lpstr>ỨNG DỤNG THỰC HÀNH:  LẬP TRÌNH HỆ THỐNG BÃI GIỮ XE THÔNG MINH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chi</dc:creator>
  <cp:lastModifiedBy>NTDEV</cp:lastModifiedBy>
  <cp:revision>154</cp:revision>
  <dcterms:created xsi:type="dcterms:W3CDTF">2016-05-19T07:14:34Z</dcterms:created>
  <dcterms:modified xsi:type="dcterms:W3CDTF">2026-07-29T00:25:09Z</dcterms:modified>
</cp:coreProperties>
</file>